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each with a verb and a target so progress is checkable:
1) Detect fill level in real time — ultrasonic sensor reading updated every 30 seconds, accurate to about ±2 cm.
2) Alert staff at 80% capacity — push notification / SMS to the collection team's phone.
3) Cut overflow incidents at the site by 50% within the pilot window, measured against the two-week baseline count.
4) Reduce average response time from alert to pickup to under 2 hours, down from a same-day-or-later baseline.
5) Log fill-level data continuously to identify each bin's peak-demand hours, so routes can eventually be planned around real demand rather than a fixed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Whys trace the overflow back to its root cause: bins overflow because collection is fixed at once a day; that schedule was set without accounting for how fast different bins actually fill; nobody has visibility into current fill level between rounds; and ultimately there is no real-time monitoring system in place at all — that's the gap the project addresses. The three stat callouts (average overflow duration, share of bins overflowing pre-collection, and fixed collection frequency) are illustrative placeholders — replace with numbers from your own site survey. Stakeholders affected: residents living nearby, the municipal corporation that runs collection, the sanitation workers on the ground, and shop owners near the 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signals work together: the ultrasonic sensor gives a continuous fill percentage, while a lightweight object-detection model (trained on the labelled dataset shown — bounding boxes around bins and spilled waste) visually confirms an actual overflow, cutting false alarms from a sensor misread. Runner-up considered was a camera-only system with no distance sensor: this combination is cheaper than a full vision rig, keeps working in poor lighting via the ultrasonic reading, and the vision model adds a second layer of confidence before an alert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left to right: the ultrasonic sensor in the bin's lid takes a distance reading; the microcontroller converts that into a fill percentage; once the threshold is crossed, a Wi-Fi or GSM module sends the alert out; the collection dashboard (and an SMS to the field team) is where staff actually see and act on it. The dashed line underneath is the feedback loop — once the bin is emptied, the sensor's next reading resets the level and the cycle continues automatically, no manual reset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Before/after framing: today collection is triggered purely by a fixed schedule with no visibility between rounds; after deployment, the trigger becomes the bin's actual fill level, response time to an alert should fall to under two hours, and overflow incidents are targeted to drop by half over the pilot. Feasibility is high — the hardware list is short and low-cost, and a pilot could be running within a few weeks. Cost is a placeholder for your own unit-cost estimate. Key risk: the ultrasonic sensor can get fouled by waste dust or splashes — mitigated with a simple protective housing and a periodic cleaning schedule for the sensor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the conclusion back to the opening problem: a fixed schedule can't see what's actually happening inside a bin, and the sensor-based loop directly closes that gap. Learning outcomes to speak to: how the team translated a fuzzy field problem into a measurable technical spec, how they sized the solution to a realistic budget rather than over-engineering it, and how they learned to defend a design choice (ultrasonic vs. camera) with evidence. Name the actual tools your team used to build the slides and any prototype. The AI usage declaration should be edited to reflect exactly what assistance was used, per the assignment's honesty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524"/>
        </a:solidFill>
      </p:bgPr>
    </p:bg>
    <p:spTree>
      <p:nvGrpSpPr>
        <p:cNvPr id="1" name=""/>
        <p:cNvGrpSpPr/>
        <p:nvPr/>
      </p:nvGrpSpPr>
      <p:grpSpPr>
        <a:xfrm>
          <a:off x="0" y="0"/>
          <a:ext cx="0" cy="0"/>
          <a:chOff x="0" y="0"/>
          <a:chExt cx="0" cy="0"/>
        </a:xfrm>
      </p:grpSpPr>
      <p:sp>
        <p:nvSpPr>
          <p:cNvPr id="2" name="Shape 0"/>
          <p:cNvSpPr/>
          <p:nvPr/>
        </p:nvSpPr>
        <p:spPr>
          <a:xfrm>
            <a:off x="10385755" y="482803"/>
            <a:ext cx="1228954" cy="1228954"/>
          </a:xfrm>
          <a:prstGeom prst="ellipse">
            <a:avLst/>
          </a:prstGeom>
          <a:solidFill>
            <a:srgbClr val="FFFFFF">
              <a:alpha val="0"/>
            </a:srgbClr>
          </a:solidFill>
          <a:ln w="12700">
            <a:solidFill>
              <a:srgbClr val="C8E45C">
                <a:alpha val="45000"/>
              </a:srgbClr>
            </a:solidFill>
            <a:prstDash val="solid"/>
          </a:ln>
        </p:spPr>
      </p:sp>
      <p:sp>
        <p:nvSpPr>
          <p:cNvPr id="3" name="Shape 1"/>
          <p:cNvSpPr/>
          <p:nvPr/>
        </p:nvSpPr>
        <p:spPr>
          <a:xfrm>
            <a:off x="10649102" y="746150"/>
            <a:ext cx="702259" cy="702259"/>
          </a:xfrm>
          <a:prstGeom prst="ellipse">
            <a:avLst/>
          </a:prstGeom>
          <a:solidFill>
            <a:srgbClr val="FFFFFF">
              <a:alpha val="0"/>
            </a:srgbClr>
          </a:solidFill>
          <a:ln w="15875">
            <a:solidFill>
              <a:srgbClr val="C8E45C">
                <a:alpha val="70000"/>
              </a:srgbClr>
            </a:solidFill>
            <a:prstDash val="solid"/>
          </a:ln>
        </p:spPr>
      </p:sp>
      <p:sp>
        <p:nvSpPr>
          <p:cNvPr id="4" name="Shape 2"/>
          <p:cNvSpPr/>
          <p:nvPr/>
        </p:nvSpPr>
        <p:spPr>
          <a:xfrm>
            <a:off x="10897819" y="994867"/>
            <a:ext cx="204826" cy="204826"/>
          </a:xfrm>
          <a:prstGeom prst="ellipse">
            <a:avLst/>
          </a:prstGeom>
          <a:solidFill>
            <a:srgbClr val="C8E45C"/>
          </a:solidFill>
          <a:ln/>
        </p:spPr>
      </p:sp>
      <p:sp>
        <p:nvSpPr>
          <p:cNvPr id="5" name="Shape 3"/>
          <p:cNvSpPr/>
          <p:nvPr/>
        </p:nvSpPr>
        <p:spPr>
          <a:xfrm>
            <a:off x="508406" y="5994806"/>
            <a:ext cx="537667" cy="537667"/>
          </a:xfrm>
          <a:prstGeom prst="ellipse">
            <a:avLst/>
          </a:prstGeom>
          <a:solidFill>
            <a:srgbClr val="FFFFFF">
              <a:alpha val="0"/>
            </a:srgbClr>
          </a:solidFill>
          <a:ln w="12700">
            <a:solidFill>
              <a:srgbClr val="5C9A6B">
                <a:alpha val="45000"/>
              </a:srgbClr>
            </a:solidFill>
            <a:prstDash val="solid"/>
          </a:ln>
        </p:spPr>
      </p:sp>
      <p:sp>
        <p:nvSpPr>
          <p:cNvPr id="6" name="Shape 4"/>
          <p:cNvSpPr/>
          <p:nvPr/>
        </p:nvSpPr>
        <p:spPr>
          <a:xfrm>
            <a:off x="623621" y="6110021"/>
            <a:ext cx="307238" cy="307238"/>
          </a:xfrm>
          <a:prstGeom prst="ellipse">
            <a:avLst/>
          </a:prstGeom>
          <a:solidFill>
            <a:srgbClr val="FFFFFF">
              <a:alpha val="0"/>
            </a:srgbClr>
          </a:solidFill>
          <a:ln w="15875">
            <a:solidFill>
              <a:srgbClr val="5C9A6B">
                <a:alpha val="70000"/>
              </a:srgbClr>
            </a:solidFill>
            <a:prstDash val="solid"/>
          </a:ln>
        </p:spPr>
      </p:sp>
      <p:sp>
        <p:nvSpPr>
          <p:cNvPr id="7" name="Shape 5"/>
          <p:cNvSpPr/>
          <p:nvPr/>
        </p:nvSpPr>
        <p:spPr>
          <a:xfrm>
            <a:off x="732434" y="6218834"/>
            <a:ext cx="89611" cy="89611"/>
          </a:xfrm>
          <a:prstGeom prst="ellipse">
            <a:avLst/>
          </a:prstGeom>
          <a:solidFill>
            <a:srgbClr val="5C9A6B"/>
          </a:solidFill>
          <a:ln/>
        </p:spPr>
      </p:sp>
      <p:sp>
        <p:nvSpPr>
          <p:cNvPr id="8" name="Text 6"/>
          <p:cNvSpPr/>
          <p:nvPr/>
        </p:nvSpPr>
        <p:spPr>
          <a:xfrm>
            <a:off x="548640" y="502920"/>
            <a:ext cx="7315200" cy="274320"/>
          </a:xfrm>
          <a:prstGeom prst="rect">
            <a:avLst/>
          </a:prstGeom>
          <a:noFill/>
          <a:ln/>
        </p:spPr>
        <p:txBody>
          <a:bodyPr wrap="square" rtlCol="0" anchor="ctr"/>
          <a:lstStyle/>
          <a:p>
            <a:pPr algn="l" indent="0" marL="0">
              <a:buNone/>
            </a:pPr>
            <a:r>
              <a:rPr lang="en-US" sz="1100" b="1" spc="200" kern="0" dirty="0">
                <a:solidFill>
                  <a:srgbClr val="C8E45C"/>
                </a:solidFill>
                <a:latin typeface="Courier New" pitchFamily="34" charset="0"/>
                <a:ea typeface="Courier New" pitchFamily="34" charset="-122"/>
                <a:cs typeface="Courier New" pitchFamily="34" charset="-120"/>
              </a:rPr>
              <a:t>FIELD PROJECT — WASTE MANAGEMENT</a:t>
            </a:r>
            <a:endParaRPr lang="en-US" sz="1100" dirty="0"/>
          </a:p>
        </p:txBody>
      </p:sp>
      <p:sp>
        <p:nvSpPr>
          <p:cNvPr id="9" name="Text 7"/>
          <p:cNvSpPr/>
          <p:nvPr/>
        </p:nvSpPr>
        <p:spPr>
          <a:xfrm>
            <a:off x="548640" y="914400"/>
            <a:ext cx="6492240" cy="1920240"/>
          </a:xfrm>
          <a:prstGeom prst="rect">
            <a:avLst/>
          </a:prstGeom>
          <a:noFill/>
          <a:ln/>
        </p:spPr>
        <p:txBody>
          <a:bodyPr wrap="square" rtlCol="0" anchor="ctr"/>
          <a:lstStyle/>
          <a:p>
            <a:pPr algn="l" indent="0" marL="0">
              <a:lnSpc>
                <a:spcPts val="4200"/>
              </a:lnSpc>
              <a:buNone/>
            </a:pPr>
            <a:r>
              <a:rPr lang="en-US" sz="4000" b="1" dirty="0">
                <a:solidFill>
                  <a:srgbClr val="FFFFFF"/>
                </a:solidFill>
                <a:latin typeface="Cambria" pitchFamily="34" charset="0"/>
                <a:ea typeface="Cambria" pitchFamily="34" charset="-122"/>
                <a:cs typeface="Cambria" pitchFamily="34" charset="-120"/>
              </a:rPr>
              <a:t>SMART DUSTBIN
</a:t>
            </a:r>
            <a:pPr algn="l" indent="0" marL="0">
              <a:lnSpc>
                <a:spcPts val="4200"/>
              </a:lnSpc>
              <a:buNone/>
            </a:pPr>
            <a:r>
              <a:rPr lang="en-US" sz="4000" b="1" dirty="0">
                <a:solidFill>
                  <a:srgbClr val="C8E45C"/>
                </a:solidFill>
                <a:latin typeface="Cambria" pitchFamily="34" charset="0"/>
                <a:ea typeface="Cambria" pitchFamily="34" charset="-122"/>
                <a:cs typeface="Cambria" pitchFamily="34" charset="-120"/>
              </a:rPr>
              <a:t>AI-Enabled Fill-Level Monitoring</a:t>
            </a:r>
            <a:endParaRPr lang="en-US" sz="4000" dirty="0"/>
          </a:p>
        </p:txBody>
      </p:sp>
      <p:sp>
        <p:nvSpPr>
          <p:cNvPr id="10" name="Text 8"/>
          <p:cNvSpPr/>
          <p:nvPr/>
        </p:nvSpPr>
        <p:spPr>
          <a:xfrm>
            <a:off x="548640" y="2788920"/>
            <a:ext cx="6126480" cy="822960"/>
          </a:xfrm>
          <a:prstGeom prst="rect">
            <a:avLst/>
          </a:prstGeom>
          <a:noFill/>
          <a:ln/>
        </p:spPr>
        <p:txBody>
          <a:bodyPr wrap="square" rtlCol="0" anchor="ctr"/>
          <a:lstStyle/>
          <a:p>
            <a:pPr indent="0" marL="0">
              <a:lnSpc>
                <a:spcPts val="1900"/>
              </a:lnSpc>
              <a:buNone/>
            </a:pPr>
            <a:r>
              <a:rPr lang="en-US" sz="1350" dirty="0">
                <a:solidFill>
                  <a:srgbClr val="E7E2D0"/>
                </a:solidFill>
                <a:latin typeface="Calibri" pitchFamily="34" charset="0"/>
                <a:ea typeface="Calibri" pitchFamily="34" charset="-122"/>
                <a:cs typeface="Calibri" pitchFamily="34" charset="-120"/>
              </a:rPr>
              <a:t>A field study on public waste overflow, and a low-cost sensor-based fix that alerts collection teams before a bin overflows.</a:t>
            </a:r>
            <a:endParaRPr lang="en-US" sz="1350" dirty="0"/>
          </a:p>
        </p:txBody>
      </p:sp>
      <p:sp>
        <p:nvSpPr>
          <p:cNvPr id="11" name="Shape 9"/>
          <p:cNvSpPr/>
          <p:nvPr/>
        </p:nvSpPr>
        <p:spPr>
          <a:xfrm>
            <a:off x="548640" y="3703320"/>
            <a:ext cx="6126480" cy="1691640"/>
          </a:xfrm>
          <a:prstGeom prst="roundRect">
            <a:avLst>
              <a:gd name="adj" fmla="val 3243"/>
            </a:avLst>
          </a:prstGeom>
          <a:solidFill>
            <a:srgbClr val="0C2A1A"/>
          </a:solidFill>
          <a:ln w="12700">
            <a:solidFill>
              <a:srgbClr val="2F6B45"/>
            </a:solidFill>
            <a:prstDash val="solid"/>
          </a:ln>
        </p:spPr>
      </p:sp>
      <p:sp>
        <p:nvSpPr>
          <p:cNvPr id="12" name="Text 10"/>
          <p:cNvSpPr/>
          <p:nvPr/>
        </p:nvSpPr>
        <p:spPr>
          <a:xfrm>
            <a:off x="822960" y="3886200"/>
            <a:ext cx="5669280" cy="1371600"/>
          </a:xfrm>
          <a:prstGeom prst="rect">
            <a:avLst/>
          </a:prstGeom>
          <a:noFill/>
          <a:ln/>
        </p:spPr>
        <p:txBody>
          <a:bodyPr wrap="square" rtlCol="0" anchor="t"/>
          <a:lstStyle/>
          <a:p>
            <a:pPr indent="0" marL="0">
              <a:lnSpc>
                <a:spcPts val="2000"/>
              </a:lnSpc>
              <a:buNone/>
            </a:pPr>
            <a:r>
              <a:rPr lang="en-US" sz="950" spc="100" kern="0" dirty="0">
                <a:solidFill>
                  <a:srgbClr val="5C9A6B"/>
                </a:solidFill>
                <a:latin typeface="Courier New" pitchFamily="34" charset="0"/>
                <a:ea typeface="Courier New" pitchFamily="34" charset="-122"/>
                <a:cs typeface="Courier New" pitchFamily="34" charset="-120"/>
              </a:rPr>
              <a:t>PRESENTED BY   </a:t>
            </a:r>
            <a:pPr indent="0" marL="0">
              <a:lnSpc>
                <a:spcPts val="2000"/>
              </a:lnSpc>
              <a:buNone/>
            </a:pPr>
            <a:r>
              <a:rPr lang="en-US" sz="1300" b="1" dirty="0">
                <a:solidFill>
                  <a:srgbClr val="FFFFFF"/>
                </a:solidFill>
                <a:latin typeface="Calibri" pitchFamily="34" charset="0"/>
                <a:ea typeface="Calibri" pitchFamily="34" charset="-122"/>
                <a:cs typeface="Calibri" pitchFamily="34" charset="-120"/>
              </a:rPr>
              <a:t>Lavanya A   ·   25105116   ·   CSE
</a:t>
            </a:r>
            <a:endParaRPr lang="en-US" sz="950" dirty="0"/>
          </a:p>
          <a:p>
            <a:pPr indent="0" marL="0">
              <a:lnSpc>
                <a:spcPts val="2000"/>
              </a:lnSpc>
              <a:buNone/>
            </a:pPr>
            <a:r>
              <a:rPr lang="en-US" sz="950" spc="100" kern="0" dirty="0">
                <a:solidFill>
                  <a:srgbClr val="5C9A6B"/>
                </a:solidFill>
                <a:latin typeface="Courier New" pitchFamily="34" charset="0"/>
                <a:ea typeface="Courier New" pitchFamily="34" charset="-122"/>
                <a:cs typeface="Courier New" pitchFamily="34" charset="-120"/>
              </a:rPr>
              <a:t>SITE VISITED   </a:t>
            </a:r>
            <a:pPr indent="0" marL="0">
              <a:lnSpc>
                <a:spcPts val="2000"/>
              </a:lnSpc>
              <a:buNone/>
            </a:pPr>
            <a:r>
              <a:rPr lang="en-US" sz="1300" b="1" dirty="0">
                <a:solidFill>
                  <a:srgbClr val="FFFFFF"/>
                </a:solidFill>
                <a:latin typeface="Calibri" pitchFamily="34" charset="0"/>
                <a:ea typeface="Calibri" pitchFamily="34" charset="-122"/>
                <a:cs typeface="Calibri" pitchFamily="34" charset="-120"/>
              </a:rPr>
              <a:t>Goundanur, Coimbatore</a:t>
            </a:r>
            <a:endParaRPr lang="en-US" sz="950" dirty="0"/>
          </a:p>
        </p:txBody>
      </p:sp>
      <p:sp>
        <p:nvSpPr>
          <p:cNvPr id="13" name="Shape 11"/>
          <p:cNvSpPr/>
          <p:nvPr/>
        </p:nvSpPr>
        <p:spPr>
          <a:xfrm>
            <a:off x="7269480" y="1783080"/>
            <a:ext cx="4206240" cy="3931920"/>
          </a:xfrm>
          <a:prstGeom prst="roundRect">
            <a:avLst>
              <a:gd name="adj" fmla="val 1395"/>
            </a:avLst>
          </a:prstGeom>
          <a:solidFill>
            <a:srgbClr val="FFFFFF"/>
          </a:solidFill>
          <a:ln/>
        </p:spPr>
      </p:sp>
      <p:pic>
        <p:nvPicPr>
          <p:cNvPr id="14" name="Image 0" descr="/home/claude/deck/user_img2.png">    </p:cNvPr>
          <p:cNvPicPr>
            <a:picLocks noChangeAspect="1"/>
          </p:cNvPicPr>
          <p:nvPr/>
        </p:nvPicPr>
        <p:blipFill>
          <a:blip r:embed="rId1"/>
          <a:srcRect l="0" r="0" t="0" b="0"/>
          <a:stretch/>
        </p:blipFill>
        <p:spPr>
          <a:xfrm>
            <a:off x="7269480" y="1783080"/>
            <a:ext cx="4206240" cy="3931920"/>
          </a:xfrm>
          <a:prstGeom prst="rect">
            <a:avLst/>
          </a:prstGeom>
        </p:spPr>
      </p:pic>
      <p:sp>
        <p:nvSpPr>
          <p:cNvPr id="15" name="Shape 12"/>
          <p:cNvSpPr/>
          <p:nvPr/>
        </p:nvSpPr>
        <p:spPr>
          <a:xfrm>
            <a:off x="7269480" y="1783080"/>
            <a:ext cx="4206240" cy="3931920"/>
          </a:xfrm>
          <a:prstGeom prst="roundRect">
            <a:avLst>
              <a:gd name="adj" fmla="val 1395"/>
            </a:avLst>
          </a:prstGeom>
          <a:ln w="12700">
            <a:solidFill>
              <a:srgbClr val="5C9A6B"/>
            </a:solidFill>
            <a:prstDash val="solid"/>
          </a:ln>
        </p:spPr>
      </p:sp>
      <p:sp>
        <p:nvSpPr>
          <p:cNvPr id="16" name="Text 13"/>
          <p:cNvSpPr/>
          <p:nvPr/>
        </p:nvSpPr>
        <p:spPr>
          <a:xfrm>
            <a:off x="1554480" y="5806440"/>
            <a:ext cx="5120640" cy="365760"/>
          </a:xfrm>
          <a:prstGeom prst="rect">
            <a:avLst/>
          </a:prstGeom>
          <a:noFill/>
          <a:ln/>
        </p:spPr>
        <p:txBody>
          <a:bodyPr wrap="square" rtlCol="0" anchor="ctr"/>
          <a:lstStyle/>
          <a:p>
            <a:pPr indent="0" marL="0">
              <a:buNone/>
            </a:pPr>
            <a:r>
              <a:rPr lang="en-US" sz="1300" i="1" dirty="0">
                <a:solidFill>
                  <a:srgbClr val="C8E45C"/>
                </a:solidFill>
                <a:latin typeface="Cambria" pitchFamily="34" charset="0"/>
                <a:ea typeface="Cambria" pitchFamily="34" charset="-122"/>
                <a:cs typeface="Cambria" pitchFamily="34" charset="-120"/>
              </a:rPr>
              <a:t>🚮 Be smart, use smart dustbins.</a:t>
            </a:r>
            <a:endParaRPr lang="en-US" sz="1300" dirty="0"/>
          </a:p>
        </p:txBody>
      </p:sp>
      <p:sp>
        <p:nvSpPr>
          <p:cNvPr id="17" name="Text 14"/>
          <p:cNvSpPr/>
          <p:nvPr/>
        </p:nvSpPr>
        <p:spPr>
          <a:xfrm>
            <a:off x="10908792" y="6400800"/>
            <a:ext cx="1005840" cy="274320"/>
          </a:xfrm>
          <a:prstGeom prst="rect">
            <a:avLst/>
          </a:prstGeom>
          <a:noFill/>
          <a:ln/>
        </p:spPr>
        <p:txBody>
          <a:bodyPr wrap="square" rtlCol="0" anchor="ctr"/>
          <a:lstStyle/>
          <a:p>
            <a:pPr algn="r" indent="0" marL="0">
              <a:buNone/>
            </a:pPr>
            <a:r>
              <a:rPr lang="en-US" sz="950" dirty="0">
                <a:solidFill>
                  <a:srgbClr val="8FAF9A"/>
                </a:solidFill>
                <a:latin typeface="Courier New" pitchFamily="34" charset="0"/>
                <a:ea typeface="Courier New" pitchFamily="34" charset="-122"/>
                <a:cs typeface="Courier New" pitchFamily="34" charset="-120"/>
              </a:rPr>
              <a:t>01 / 10</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6"/>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algn="l" indent="0" marL="0">
              <a:buNone/>
            </a:pPr>
            <a:r>
              <a:rPr lang="en-US" sz="1100" b="1" spc="200" kern="0" dirty="0">
                <a:solidFill>
                  <a:srgbClr val="2F6B45"/>
                </a:solidFill>
                <a:latin typeface="Courier New" pitchFamily="34" charset="0"/>
                <a:ea typeface="Courier New" pitchFamily="34" charset="-122"/>
                <a:cs typeface="Courier New" pitchFamily="34" charset="-120"/>
              </a:rPr>
              <a:t>WHAT WE WENT TO SEE</a:t>
            </a:r>
            <a:endParaRPr lang="en-US" sz="1100" dirty="0"/>
          </a:p>
        </p:txBody>
      </p:sp>
      <p:sp>
        <p:nvSpPr>
          <p:cNvPr id="3" name="Text 1"/>
          <p:cNvSpPr/>
          <p:nvPr/>
        </p:nvSpPr>
        <p:spPr>
          <a:xfrm>
            <a:off x="548640" y="658368"/>
            <a:ext cx="9144000" cy="640080"/>
          </a:xfrm>
          <a:prstGeom prst="rect">
            <a:avLst/>
          </a:prstGeom>
          <a:noFill/>
          <a:ln/>
        </p:spPr>
        <p:txBody>
          <a:bodyPr wrap="square" rtlCol="0" anchor="ctr"/>
          <a:lstStyle/>
          <a:p>
            <a:pPr indent="0" marL="0">
              <a:buNone/>
            </a:pPr>
            <a:r>
              <a:rPr lang="en-US" sz="3000" b="1" dirty="0">
                <a:solidFill>
                  <a:srgbClr val="14261B"/>
                </a:solidFill>
                <a:latin typeface="Cambria" pitchFamily="34" charset="0"/>
                <a:ea typeface="Cambria" pitchFamily="34" charset="-122"/>
                <a:cs typeface="Cambria" pitchFamily="34" charset="-120"/>
              </a:rPr>
              <a:t>Field Observation</a:t>
            </a:r>
            <a:endParaRPr lang="en-US" sz="3000" dirty="0"/>
          </a:p>
        </p:txBody>
      </p:sp>
      <p:sp>
        <p:nvSpPr>
          <p:cNvPr id="4" name="Shape 2"/>
          <p:cNvSpPr/>
          <p:nvPr/>
        </p:nvSpPr>
        <p:spPr>
          <a:xfrm>
            <a:off x="548640" y="1554480"/>
            <a:ext cx="5257800" cy="3246120"/>
          </a:xfrm>
          <a:prstGeom prst="roundRect">
            <a:avLst>
              <a:gd name="adj" fmla="val 1690"/>
            </a:avLst>
          </a:prstGeom>
          <a:solidFill>
            <a:srgbClr val="FFFFFF"/>
          </a:solidFill>
          <a:ln/>
        </p:spPr>
      </p:sp>
      <p:pic>
        <p:nvPicPr>
          <p:cNvPr id="5" name="Image 0" descr="/home/claude/deck/user_img1.png">    </p:cNvPr>
          <p:cNvPicPr>
            <a:picLocks noChangeAspect="1"/>
          </p:cNvPicPr>
          <p:nvPr/>
        </p:nvPicPr>
        <p:blipFill>
          <a:blip r:embed="rId1"/>
          <a:srcRect l="0" r="0" t="0" b="0"/>
          <a:stretch/>
        </p:blipFill>
        <p:spPr>
          <a:xfrm>
            <a:off x="548640" y="1554480"/>
            <a:ext cx="5257800" cy="3246120"/>
          </a:xfrm>
          <a:prstGeom prst="rect">
            <a:avLst/>
          </a:prstGeom>
        </p:spPr>
      </p:pic>
      <p:sp>
        <p:nvSpPr>
          <p:cNvPr id="6" name="Shape 3"/>
          <p:cNvSpPr/>
          <p:nvPr/>
        </p:nvSpPr>
        <p:spPr>
          <a:xfrm>
            <a:off x="548640" y="1554480"/>
            <a:ext cx="5257800" cy="3246120"/>
          </a:xfrm>
          <a:prstGeom prst="roundRect">
            <a:avLst>
              <a:gd name="adj" fmla="val 1690"/>
            </a:avLst>
          </a:prstGeom>
          <a:ln w="12700">
            <a:solidFill>
              <a:srgbClr val="5C9A6B"/>
            </a:solidFill>
            <a:prstDash val="solid"/>
          </a:ln>
        </p:spPr>
      </p:sp>
      <p:sp>
        <p:nvSpPr>
          <p:cNvPr id="7" name="Shape 4"/>
          <p:cNvSpPr/>
          <p:nvPr/>
        </p:nvSpPr>
        <p:spPr>
          <a:xfrm>
            <a:off x="6382512" y="1554480"/>
            <a:ext cx="5257800" cy="3246120"/>
          </a:xfrm>
          <a:prstGeom prst="roundRect">
            <a:avLst>
              <a:gd name="adj" fmla="val 1690"/>
            </a:avLst>
          </a:prstGeom>
          <a:solidFill>
            <a:srgbClr val="FFFFFF"/>
          </a:solidFill>
          <a:ln/>
        </p:spPr>
      </p:sp>
      <p:pic>
        <p:nvPicPr>
          <p:cNvPr id="8" name="Image 1" descr="/home/claude/deck/img_field2.jpg">    </p:cNvPr>
          <p:cNvPicPr>
            <a:picLocks noChangeAspect="1"/>
          </p:cNvPicPr>
          <p:nvPr/>
        </p:nvPicPr>
        <p:blipFill>
          <a:blip r:embed="rId2"/>
          <a:srcRect l="0" r="0" t="0" b="0"/>
          <a:stretch/>
        </p:blipFill>
        <p:spPr>
          <a:xfrm>
            <a:off x="6382512" y="1554480"/>
            <a:ext cx="5257800" cy="3246120"/>
          </a:xfrm>
          <a:prstGeom prst="rect">
            <a:avLst/>
          </a:prstGeom>
        </p:spPr>
      </p:pic>
      <p:sp>
        <p:nvSpPr>
          <p:cNvPr id="9" name="Shape 5"/>
          <p:cNvSpPr/>
          <p:nvPr/>
        </p:nvSpPr>
        <p:spPr>
          <a:xfrm>
            <a:off x="6382512" y="1554480"/>
            <a:ext cx="5257800" cy="3246120"/>
          </a:xfrm>
          <a:prstGeom prst="roundRect">
            <a:avLst>
              <a:gd name="adj" fmla="val 1690"/>
            </a:avLst>
          </a:prstGeom>
          <a:ln w="12700">
            <a:solidFill>
              <a:srgbClr val="5C9A6B"/>
            </a:solidFill>
            <a:prstDash val="solid"/>
          </a:ln>
        </p:spPr>
      </p:sp>
      <p:sp>
        <p:nvSpPr>
          <p:cNvPr id="10" name="Text 6"/>
          <p:cNvSpPr/>
          <p:nvPr/>
        </p:nvSpPr>
        <p:spPr>
          <a:xfrm>
            <a:off x="548640" y="4910328"/>
            <a:ext cx="5257800" cy="320040"/>
          </a:xfrm>
          <a:prstGeom prst="rect">
            <a:avLst/>
          </a:prstGeom>
          <a:noFill/>
          <a:ln/>
        </p:spPr>
        <p:txBody>
          <a:bodyPr wrap="square" rtlCol="0" anchor="ctr"/>
          <a:lstStyle/>
          <a:p>
            <a:pPr indent="0" marL="0">
              <a:buNone/>
            </a:pPr>
            <a:r>
              <a:rPr lang="en-US" sz="1100" i="1" dirty="0">
                <a:solidFill>
                  <a:srgbClr val="4A5A4E"/>
                </a:solidFill>
                <a:latin typeface="Calibri" pitchFamily="34" charset="0"/>
                <a:ea typeface="Calibri" pitchFamily="34" charset="-122"/>
                <a:cs typeface="Calibri" pitchFamily="34" charset="-120"/>
              </a:rPr>
              <a:t>Caption: overflowing bins, field visit</a:t>
            </a:r>
            <a:endParaRPr lang="en-US" sz="1100" dirty="0"/>
          </a:p>
        </p:txBody>
      </p:sp>
      <p:sp>
        <p:nvSpPr>
          <p:cNvPr id="11" name="Text 7"/>
          <p:cNvSpPr/>
          <p:nvPr/>
        </p:nvSpPr>
        <p:spPr>
          <a:xfrm>
            <a:off x="6382512" y="4910328"/>
            <a:ext cx="5257800" cy="320040"/>
          </a:xfrm>
          <a:prstGeom prst="rect">
            <a:avLst/>
          </a:prstGeom>
          <a:noFill/>
          <a:ln/>
        </p:spPr>
        <p:txBody>
          <a:bodyPr wrap="square" rtlCol="0" anchor="ctr"/>
          <a:lstStyle/>
          <a:p>
            <a:pPr indent="0" marL="0">
              <a:buNone/>
            </a:pPr>
            <a:r>
              <a:rPr lang="en-US" sz="1100" i="1" dirty="0">
                <a:solidFill>
                  <a:srgbClr val="4A5A4E"/>
                </a:solidFill>
                <a:latin typeface="Calibri" pitchFamily="34" charset="0"/>
                <a:ea typeface="Calibri" pitchFamily="34" charset="-122"/>
                <a:cs typeface="Calibri" pitchFamily="34" charset="-120"/>
              </a:rPr>
              <a:t>Reference: object-detection samples reviewed</a:t>
            </a:r>
            <a:endParaRPr lang="en-US" sz="1100" dirty="0"/>
          </a:p>
        </p:txBody>
      </p:sp>
      <p:sp>
        <p:nvSpPr>
          <p:cNvPr id="12" name="Shape 8"/>
          <p:cNvSpPr/>
          <p:nvPr/>
        </p:nvSpPr>
        <p:spPr>
          <a:xfrm>
            <a:off x="548640" y="5257800"/>
            <a:ext cx="11091672" cy="960120"/>
          </a:xfrm>
          <a:prstGeom prst="roundRect">
            <a:avLst>
              <a:gd name="adj" fmla="val 5714"/>
            </a:avLst>
          </a:prstGeom>
          <a:solidFill>
            <a:srgbClr val="FFFFFF"/>
          </a:solidFill>
          <a:ln w="12700">
            <a:solidFill>
              <a:srgbClr val="E7E2D0"/>
            </a:solidFill>
            <a:prstDash val="solid"/>
          </a:ln>
        </p:spPr>
      </p:sp>
      <p:sp>
        <p:nvSpPr>
          <p:cNvPr id="13" name="Text 9"/>
          <p:cNvSpPr/>
          <p:nvPr/>
        </p:nvSpPr>
        <p:spPr>
          <a:xfrm>
            <a:off x="777240" y="5394960"/>
            <a:ext cx="10607040" cy="731520"/>
          </a:xfrm>
          <a:prstGeom prst="rect">
            <a:avLst/>
          </a:prstGeom>
          <a:noFill/>
          <a:ln/>
        </p:spPr>
        <p:txBody>
          <a:bodyPr wrap="square" rtlCol="0" anchor="t"/>
          <a:lstStyle/>
          <a:p>
            <a:pPr indent="0" marL="0">
              <a:lnSpc>
                <a:spcPts val="1800"/>
              </a:lnSpc>
              <a:buNone/>
            </a:pPr>
            <a:r>
              <a:rPr lang="en-US" sz="950" spc="100" kern="0" dirty="0">
                <a:solidFill>
                  <a:srgbClr val="2F6B45"/>
                </a:solidFill>
                <a:latin typeface="Courier New" pitchFamily="34" charset="0"/>
                <a:ea typeface="Courier New" pitchFamily="34" charset="-122"/>
                <a:cs typeface="Courier New" pitchFamily="34" charset="-120"/>
              </a:rPr>
              <a:t>QUICK NOTES FROM THE VISIT   </a:t>
            </a:r>
            <a:endParaRPr lang="en-US" sz="950" dirty="0"/>
          </a:p>
          <a:p>
            <a:pPr indent="0" marL="0">
              <a:lnSpc>
                <a:spcPts val="1800"/>
              </a:lnSpc>
              <a:buNone/>
            </a:pPr>
            <a:r>
              <a:rPr lang="en-US" sz="1200" dirty="0">
                <a:solidFill>
                  <a:srgbClr val="14261B"/>
                </a:solidFill>
                <a:latin typeface="Calibri" pitchFamily="34" charset="0"/>
                <a:ea typeface="Calibri" pitchFamily="34" charset="-122"/>
                <a:cs typeface="Calibri" pitchFamily="34" charset="-120"/>
              </a:rPr>
              <a:t>•  Bin overflows by midday near the entrance     •  No wet/dry segregation on site     •  One collection round a day, before peak demand</a:t>
            </a:r>
            <a:endParaRPr lang="en-US" sz="950" dirty="0"/>
          </a:p>
        </p:txBody>
      </p:sp>
      <p:sp>
        <p:nvSpPr>
          <p:cNvPr id="14" name="Text 10"/>
          <p:cNvSpPr/>
          <p:nvPr/>
        </p:nvSpPr>
        <p:spPr>
          <a:xfrm>
            <a:off x="548640" y="6400800"/>
            <a:ext cx="4572000" cy="274320"/>
          </a:xfrm>
          <a:prstGeom prst="rect">
            <a:avLst/>
          </a:prstGeom>
          <a:noFill/>
          <a:ln/>
        </p:spPr>
        <p:txBody>
          <a:bodyPr wrap="square" rtlCol="0" anchor="ctr"/>
          <a:lstStyle/>
          <a:p>
            <a:pPr indent="0" marL="0">
              <a:buNone/>
            </a:pPr>
            <a:r>
              <a:rPr lang="en-US" sz="950" spc="100" kern="0" dirty="0">
                <a:solidFill>
                  <a:srgbClr val="7C8C7F"/>
                </a:solidFill>
                <a:latin typeface="Courier New" pitchFamily="34" charset="0"/>
                <a:ea typeface="Courier New" pitchFamily="34" charset="-122"/>
                <a:cs typeface="Courier New" pitchFamily="34" charset="-120"/>
              </a:rPr>
              <a:t>SMART DUSTBIN — FIELD PROJECT</a:t>
            </a:r>
            <a:endParaRPr lang="en-US" sz="950" dirty="0"/>
          </a:p>
        </p:txBody>
      </p:sp>
      <p:sp>
        <p:nvSpPr>
          <p:cNvPr id="15" name="Text 11"/>
          <p:cNvSpPr/>
          <p:nvPr/>
        </p:nvSpPr>
        <p:spPr>
          <a:xfrm>
            <a:off x="10908792" y="6400800"/>
            <a:ext cx="1005840" cy="274320"/>
          </a:xfrm>
          <a:prstGeom prst="rect">
            <a:avLst/>
          </a:prstGeom>
          <a:noFill/>
          <a:ln/>
        </p:spPr>
        <p:txBody>
          <a:bodyPr wrap="square" rtlCol="0" anchor="ctr"/>
          <a:lstStyle/>
          <a:p>
            <a:pPr algn="r" indent="0" marL="0">
              <a:buNone/>
            </a:pPr>
            <a:r>
              <a:rPr lang="en-US" sz="950" dirty="0">
                <a:solidFill>
                  <a:srgbClr val="7C8C7F"/>
                </a:solidFill>
                <a:latin typeface="Courier New" pitchFamily="34" charset="0"/>
                <a:ea typeface="Courier New" pitchFamily="34" charset="-122"/>
                <a:cs typeface="Courier New" pitchFamily="34" charset="-120"/>
              </a:rPr>
              <a:t>02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524"/>
        </a:solidFill>
      </p:bgPr>
    </p:bg>
    <p:spTree>
      <p:nvGrpSpPr>
        <p:cNvPr id="1" name=""/>
        <p:cNvGrpSpPr/>
        <p:nvPr/>
      </p:nvGrpSpPr>
      <p:grpSpPr>
        <a:xfrm>
          <a:off x="0" y="0"/>
          <a:ext cx="0" cy="0"/>
          <a:chOff x="0" y="0"/>
          <a:chExt cx="0" cy="0"/>
        </a:xfrm>
      </p:grpSpPr>
      <p:sp>
        <p:nvSpPr>
          <p:cNvPr id="2" name="Shape 0"/>
          <p:cNvSpPr/>
          <p:nvPr/>
        </p:nvSpPr>
        <p:spPr>
          <a:xfrm>
            <a:off x="10592410" y="5352898"/>
            <a:ext cx="998525" cy="998525"/>
          </a:xfrm>
          <a:prstGeom prst="ellipse">
            <a:avLst/>
          </a:prstGeom>
          <a:solidFill>
            <a:srgbClr val="FFFFFF">
              <a:alpha val="0"/>
            </a:srgbClr>
          </a:solidFill>
          <a:ln w="12700">
            <a:solidFill>
              <a:srgbClr val="C8E45C">
                <a:alpha val="45000"/>
              </a:srgbClr>
            </a:solidFill>
            <a:prstDash val="solid"/>
          </a:ln>
        </p:spPr>
      </p:sp>
      <p:sp>
        <p:nvSpPr>
          <p:cNvPr id="3" name="Shape 1"/>
          <p:cNvSpPr/>
          <p:nvPr/>
        </p:nvSpPr>
        <p:spPr>
          <a:xfrm>
            <a:off x="10806379" y="5566867"/>
            <a:ext cx="570586" cy="570586"/>
          </a:xfrm>
          <a:prstGeom prst="ellipse">
            <a:avLst/>
          </a:prstGeom>
          <a:solidFill>
            <a:srgbClr val="FFFFFF">
              <a:alpha val="0"/>
            </a:srgbClr>
          </a:solidFill>
          <a:ln w="15875">
            <a:solidFill>
              <a:srgbClr val="C8E45C">
                <a:alpha val="70000"/>
              </a:srgbClr>
            </a:solidFill>
            <a:prstDash val="solid"/>
          </a:ln>
        </p:spPr>
      </p:sp>
      <p:sp>
        <p:nvSpPr>
          <p:cNvPr id="4" name="Shape 2"/>
          <p:cNvSpPr/>
          <p:nvPr/>
        </p:nvSpPr>
        <p:spPr>
          <a:xfrm>
            <a:off x="11008462" y="5768950"/>
            <a:ext cx="166421" cy="166421"/>
          </a:xfrm>
          <a:prstGeom prst="ellipse">
            <a:avLst/>
          </a:prstGeom>
          <a:solidFill>
            <a:srgbClr val="C8E45C"/>
          </a:solidFill>
          <a:ln/>
        </p:spPr>
      </p:sp>
      <p:sp>
        <p:nvSpPr>
          <p:cNvPr id="5" name="Text 3"/>
          <p:cNvSpPr/>
          <p:nvPr/>
        </p:nvSpPr>
        <p:spPr>
          <a:xfrm>
            <a:off x="548640" y="384048"/>
            <a:ext cx="7315200" cy="274320"/>
          </a:xfrm>
          <a:prstGeom prst="rect">
            <a:avLst/>
          </a:prstGeom>
          <a:noFill/>
          <a:ln/>
        </p:spPr>
        <p:txBody>
          <a:bodyPr wrap="square" rtlCol="0" anchor="ctr"/>
          <a:lstStyle/>
          <a:p>
            <a:pPr algn="l" indent="0" marL="0">
              <a:buNone/>
            </a:pPr>
            <a:r>
              <a:rPr lang="en-US" sz="1100" b="1" spc="200" kern="0" dirty="0">
                <a:solidFill>
                  <a:srgbClr val="C8E45C"/>
                </a:solidFill>
                <a:latin typeface="Courier New" pitchFamily="34" charset="0"/>
                <a:ea typeface="Courier New" pitchFamily="34" charset="-122"/>
                <a:cs typeface="Courier New" pitchFamily="34" charset="-120"/>
              </a:rPr>
              <a:t>THE PROBLEM — VERBATIM</a:t>
            </a:r>
            <a:endParaRPr lang="en-US" sz="1100" dirty="0"/>
          </a:p>
        </p:txBody>
      </p:sp>
      <p:sp>
        <p:nvSpPr>
          <p:cNvPr id="6" name="Shape 4"/>
          <p:cNvSpPr/>
          <p:nvPr/>
        </p:nvSpPr>
        <p:spPr>
          <a:xfrm>
            <a:off x="1005840" y="1691640"/>
            <a:ext cx="0" cy="3749040"/>
          </a:xfrm>
          <a:prstGeom prst="line">
            <a:avLst/>
          </a:prstGeom>
          <a:noFill/>
          <a:ln w="25400">
            <a:solidFill>
              <a:srgbClr val="2F6B45"/>
            </a:solidFill>
            <a:prstDash val="solid"/>
          </a:ln>
        </p:spPr>
      </p:sp>
      <p:sp>
        <p:nvSpPr>
          <p:cNvPr id="7" name="Text 5"/>
          <p:cNvSpPr/>
          <p:nvPr/>
        </p:nvSpPr>
        <p:spPr>
          <a:xfrm>
            <a:off x="1371600" y="1554480"/>
            <a:ext cx="9601200" cy="3840480"/>
          </a:xfrm>
          <a:prstGeom prst="rect">
            <a:avLst/>
          </a:prstGeom>
          <a:noFill/>
          <a:ln/>
        </p:spPr>
        <p:txBody>
          <a:bodyPr wrap="square" rtlCol="0" anchor="ctr"/>
          <a:lstStyle/>
          <a:p>
            <a:pPr indent="0" marL="0">
              <a:lnSpc>
                <a:spcPts val="4000"/>
              </a:lnSpc>
              <a:buNone/>
            </a:pPr>
            <a:r>
              <a:rPr lang="en-US" sz="3000" dirty="0">
                <a:solidFill>
                  <a:srgbClr val="FFFFFF"/>
                </a:solidFill>
                <a:latin typeface="Cambria" pitchFamily="34" charset="0"/>
                <a:ea typeface="Cambria" pitchFamily="34" charset="-122"/>
                <a:cs typeface="Cambria" pitchFamily="34" charset="-120"/>
              </a:rPr>
              <a:t>“Public dustbins across our site overflow well before the next scheduled collection — spilling waste onto streets, drawing pests, and putting residents' health at risk, because collection runs on a fixed schedule, not the bin's actual fill level.”</a:t>
            </a:r>
            <a:endParaRPr lang="en-US" sz="3000" dirty="0"/>
          </a:p>
        </p:txBody>
      </p:sp>
      <p:sp>
        <p:nvSpPr>
          <p:cNvPr id="8" name="Text 6"/>
          <p:cNvSpPr/>
          <p:nvPr/>
        </p:nvSpPr>
        <p:spPr>
          <a:xfrm>
            <a:off x="1371600" y="5623560"/>
            <a:ext cx="9601200" cy="457200"/>
          </a:xfrm>
          <a:prstGeom prst="rect">
            <a:avLst/>
          </a:prstGeom>
          <a:noFill/>
          <a:ln/>
        </p:spPr>
        <p:txBody>
          <a:bodyPr wrap="square" rtlCol="0" anchor="ctr"/>
          <a:lstStyle/>
          <a:p>
            <a:pPr indent="0" marL="0">
              <a:buNone/>
            </a:pPr>
            <a:r>
              <a:rPr lang="en-US" sz="1150" i="1" dirty="0">
                <a:solidFill>
                  <a:srgbClr val="5C9A6B"/>
                </a:solidFill>
                <a:latin typeface="Calibri" pitchFamily="34" charset="0"/>
                <a:ea typeface="Calibri" pitchFamily="34" charset="-122"/>
                <a:cs typeface="Calibri" pitchFamily="34" charset="-120"/>
              </a:rPr>
              <a:t>[ Replace with your own field-verified problem statement — keep it one slide, one statement. ]</a:t>
            </a:r>
            <a:endParaRPr lang="en-US" sz="1150" dirty="0"/>
          </a:p>
        </p:txBody>
      </p:sp>
      <p:sp>
        <p:nvSpPr>
          <p:cNvPr id="9" name="Text 7"/>
          <p:cNvSpPr/>
          <p:nvPr/>
        </p:nvSpPr>
        <p:spPr>
          <a:xfrm>
            <a:off x="10908792" y="6400800"/>
            <a:ext cx="1005840" cy="274320"/>
          </a:xfrm>
          <a:prstGeom prst="rect">
            <a:avLst/>
          </a:prstGeom>
          <a:noFill/>
          <a:ln/>
        </p:spPr>
        <p:txBody>
          <a:bodyPr wrap="square" rtlCol="0" anchor="ctr"/>
          <a:lstStyle/>
          <a:p>
            <a:pPr algn="r" indent="0" marL="0">
              <a:buNone/>
            </a:pPr>
            <a:r>
              <a:rPr lang="en-US" sz="950" dirty="0">
                <a:solidFill>
                  <a:srgbClr val="8FAF9A"/>
                </a:solidFill>
                <a:latin typeface="Courier New" pitchFamily="34" charset="0"/>
                <a:ea typeface="Courier New" pitchFamily="34" charset="-122"/>
                <a:cs typeface="Courier New" pitchFamily="34" charset="-120"/>
              </a:rPr>
              <a:t>03 / 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6"/>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algn="l" indent="0" marL="0">
              <a:buNone/>
            </a:pPr>
            <a:r>
              <a:rPr lang="en-US" sz="1100" b="1" spc="200" kern="0" dirty="0">
                <a:solidFill>
                  <a:srgbClr val="2F6B45"/>
                </a:solidFill>
                <a:latin typeface="Courier New" pitchFamily="34" charset="0"/>
                <a:ea typeface="Courier New" pitchFamily="34" charset="-122"/>
                <a:cs typeface="Courier New" pitchFamily="34" charset="-120"/>
              </a:rPr>
              <a:t>WHAT WE SET OUT TO DO</a:t>
            </a:r>
            <a:endParaRPr lang="en-US" sz="1100" dirty="0"/>
          </a:p>
        </p:txBody>
      </p:sp>
      <p:sp>
        <p:nvSpPr>
          <p:cNvPr id="3" name="Text 1"/>
          <p:cNvSpPr/>
          <p:nvPr/>
        </p:nvSpPr>
        <p:spPr>
          <a:xfrm>
            <a:off x="548640" y="658368"/>
            <a:ext cx="9144000" cy="640080"/>
          </a:xfrm>
          <a:prstGeom prst="rect">
            <a:avLst/>
          </a:prstGeom>
          <a:noFill/>
          <a:ln/>
        </p:spPr>
        <p:txBody>
          <a:bodyPr wrap="square" rtlCol="0" anchor="ctr"/>
          <a:lstStyle/>
          <a:p>
            <a:pPr indent="0" marL="0">
              <a:buNone/>
            </a:pPr>
            <a:r>
              <a:rPr lang="en-US" sz="3000" b="1" dirty="0">
                <a:solidFill>
                  <a:srgbClr val="14261B"/>
                </a:solidFill>
                <a:latin typeface="Cambria" pitchFamily="34" charset="0"/>
                <a:ea typeface="Cambria" pitchFamily="34" charset="-122"/>
                <a:cs typeface="Cambria" pitchFamily="34" charset="-120"/>
              </a:rPr>
              <a:t>Objectives</a:t>
            </a:r>
            <a:endParaRPr lang="en-US" sz="3000" dirty="0"/>
          </a:p>
        </p:txBody>
      </p:sp>
      <p:sp>
        <p:nvSpPr>
          <p:cNvPr id="4" name="Shape 2"/>
          <p:cNvSpPr/>
          <p:nvPr/>
        </p:nvSpPr>
        <p:spPr>
          <a:xfrm>
            <a:off x="548640" y="1600200"/>
            <a:ext cx="5394960" cy="914400"/>
          </a:xfrm>
          <a:prstGeom prst="roundRect">
            <a:avLst>
              <a:gd name="adj" fmla="val 6000"/>
            </a:avLst>
          </a:prstGeom>
          <a:solidFill>
            <a:srgbClr val="FFFFFF"/>
          </a:solidFill>
          <a:ln w="12700">
            <a:solidFill>
              <a:srgbClr val="E7E2D0"/>
            </a:solidFill>
            <a:prstDash val="solid"/>
          </a:ln>
        </p:spPr>
      </p:sp>
      <p:sp>
        <p:nvSpPr>
          <p:cNvPr id="5" name="Shape 3"/>
          <p:cNvSpPr/>
          <p:nvPr/>
        </p:nvSpPr>
        <p:spPr>
          <a:xfrm>
            <a:off x="749808" y="1828800"/>
            <a:ext cx="457200" cy="457200"/>
          </a:xfrm>
          <a:prstGeom prst="ellipse">
            <a:avLst/>
          </a:prstGeom>
          <a:solidFill>
            <a:srgbClr val="2F6B45"/>
          </a:solidFill>
          <a:ln/>
        </p:spPr>
      </p:sp>
      <p:sp>
        <p:nvSpPr>
          <p:cNvPr id="6" name="Text 4"/>
          <p:cNvSpPr/>
          <p:nvPr/>
        </p:nvSpPr>
        <p:spPr>
          <a:xfrm>
            <a:off x="749808" y="1819656"/>
            <a:ext cx="457200" cy="457200"/>
          </a:xfrm>
          <a:prstGeom prst="rect">
            <a:avLst/>
          </a:prstGeom>
          <a:noFill/>
          <a:ln/>
        </p:spPr>
        <p:txBody>
          <a:bodyPr wrap="square"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7" name="Text 5"/>
          <p:cNvSpPr/>
          <p:nvPr/>
        </p:nvSpPr>
        <p:spPr>
          <a:xfrm>
            <a:off x="1417320" y="1600200"/>
            <a:ext cx="4343400" cy="914400"/>
          </a:xfrm>
          <a:prstGeom prst="rect">
            <a:avLst/>
          </a:prstGeom>
          <a:noFill/>
          <a:ln/>
        </p:spPr>
        <p:txBody>
          <a:bodyPr wrap="square" rtlCol="0" anchor="ctr"/>
          <a:lstStyle/>
          <a:p>
            <a:pPr indent="0" marL="0">
              <a:lnSpc>
                <a:spcPts val="1700"/>
              </a:lnSpc>
              <a:buNone/>
            </a:pPr>
            <a:r>
              <a:rPr lang="en-US" sz="1450" b="1" dirty="0">
                <a:solidFill>
                  <a:srgbClr val="14261B"/>
                </a:solidFill>
                <a:latin typeface="Calibri" pitchFamily="34" charset="0"/>
                <a:ea typeface="Calibri" pitchFamily="34" charset="-122"/>
                <a:cs typeface="Calibri" pitchFamily="34" charset="-120"/>
              </a:rPr>
              <a:t>Detect bin fill level in real time</a:t>
            </a:r>
            <a:endParaRPr lang="en-US" sz="1450" dirty="0"/>
          </a:p>
        </p:txBody>
      </p:sp>
      <p:sp>
        <p:nvSpPr>
          <p:cNvPr id="8" name="Shape 6"/>
          <p:cNvSpPr/>
          <p:nvPr/>
        </p:nvSpPr>
        <p:spPr>
          <a:xfrm>
            <a:off x="6263640" y="1600200"/>
            <a:ext cx="5394960" cy="914400"/>
          </a:xfrm>
          <a:prstGeom prst="roundRect">
            <a:avLst>
              <a:gd name="adj" fmla="val 6000"/>
            </a:avLst>
          </a:prstGeom>
          <a:solidFill>
            <a:srgbClr val="FFFFFF"/>
          </a:solidFill>
          <a:ln w="12700">
            <a:solidFill>
              <a:srgbClr val="E7E2D0"/>
            </a:solidFill>
            <a:prstDash val="solid"/>
          </a:ln>
        </p:spPr>
      </p:sp>
      <p:sp>
        <p:nvSpPr>
          <p:cNvPr id="9" name="Shape 7"/>
          <p:cNvSpPr/>
          <p:nvPr/>
        </p:nvSpPr>
        <p:spPr>
          <a:xfrm>
            <a:off x="6464808" y="1828800"/>
            <a:ext cx="457200" cy="457200"/>
          </a:xfrm>
          <a:prstGeom prst="ellipse">
            <a:avLst/>
          </a:prstGeom>
          <a:solidFill>
            <a:srgbClr val="2F6B45"/>
          </a:solidFill>
          <a:ln/>
        </p:spPr>
      </p:sp>
      <p:sp>
        <p:nvSpPr>
          <p:cNvPr id="10" name="Text 8"/>
          <p:cNvSpPr/>
          <p:nvPr/>
        </p:nvSpPr>
        <p:spPr>
          <a:xfrm>
            <a:off x="6464808" y="1819656"/>
            <a:ext cx="457200" cy="457200"/>
          </a:xfrm>
          <a:prstGeom prst="rect">
            <a:avLst/>
          </a:prstGeom>
          <a:noFill/>
          <a:ln/>
        </p:spPr>
        <p:txBody>
          <a:bodyPr wrap="square"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1" name="Text 9"/>
          <p:cNvSpPr/>
          <p:nvPr/>
        </p:nvSpPr>
        <p:spPr>
          <a:xfrm>
            <a:off x="7132320" y="1600200"/>
            <a:ext cx="4343400" cy="914400"/>
          </a:xfrm>
          <a:prstGeom prst="rect">
            <a:avLst/>
          </a:prstGeom>
          <a:noFill/>
          <a:ln/>
        </p:spPr>
        <p:txBody>
          <a:bodyPr wrap="square" rtlCol="0" anchor="ctr"/>
          <a:lstStyle/>
          <a:p>
            <a:pPr indent="0" marL="0">
              <a:lnSpc>
                <a:spcPts val="1700"/>
              </a:lnSpc>
              <a:buNone/>
            </a:pPr>
            <a:r>
              <a:rPr lang="en-US" sz="1450" b="1" dirty="0">
                <a:solidFill>
                  <a:srgbClr val="14261B"/>
                </a:solidFill>
                <a:latin typeface="Calibri" pitchFamily="34" charset="0"/>
                <a:ea typeface="Calibri" pitchFamily="34" charset="-122"/>
                <a:cs typeface="Calibri" pitchFamily="34" charset="-120"/>
              </a:rPr>
              <a:t>Alert staff once a bin hits 80%</a:t>
            </a:r>
            <a:endParaRPr lang="en-US" sz="1450" dirty="0"/>
          </a:p>
        </p:txBody>
      </p:sp>
      <p:sp>
        <p:nvSpPr>
          <p:cNvPr id="12" name="Shape 10"/>
          <p:cNvSpPr/>
          <p:nvPr/>
        </p:nvSpPr>
        <p:spPr>
          <a:xfrm>
            <a:off x="548640" y="2770632"/>
            <a:ext cx="5394960" cy="914400"/>
          </a:xfrm>
          <a:prstGeom prst="roundRect">
            <a:avLst>
              <a:gd name="adj" fmla="val 6000"/>
            </a:avLst>
          </a:prstGeom>
          <a:solidFill>
            <a:srgbClr val="FFFFFF"/>
          </a:solidFill>
          <a:ln w="12700">
            <a:solidFill>
              <a:srgbClr val="E7E2D0"/>
            </a:solidFill>
            <a:prstDash val="solid"/>
          </a:ln>
        </p:spPr>
      </p:sp>
      <p:sp>
        <p:nvSpPr>
          <p:cNvPr id="13" name="Shape 11"/>
          <p:cNvSpPr/>
          <p:nvPr/>
        </p:nvSpPr>
        <p:spPr>
          <a:xfrm>
            <a:off x="749808" y="2999232"/>
            <a:ext cx="457200" cy="457200"/>
          </a:xfrm>
          <a:prstGeom prst="ellipse">
            <a:avLst/>
          </a:prstGeom>
          <a:solidFill>
            <a:srgbClr val="2F6B45"/>
          </a:solidFill>
          <a:ln/>
        </p:spPr>
      </p:sp>
      <p:sp>
        <p:nvSpPr>
          <p:cNvPr id="14" name="Text 12"/>
          <p:cNvSpPr/>
          <p:nvPr/>
        </p:nvSpPr>
        <p:spPr>
          <a:xfrm>
            <a:off x="749808" y="2990088"/>
            <a:ext cx="457200" cy="457200"/>
          </a:xfrm>
          <a:prstGeom prst="rect">
            <a:avLst/>
          </a:prstGeom>
          <a:noFill/>
          <a:ln/>
        </p:spPr>
        <p:txBody>
          <a:bodyPr wrap="square"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5" name="Text 13"/>
          <p:cNvSpPr/>
          <p:nvPr/>
        </p:nvSpPr>
        <p:spPr>
          <a:xfrm>
            <a:off x="1417320" y="2770632"/>
            <a:ext cx="4343400" cy="914400"/>
          </a:xfrm>
          <a:prstGeom prst="rect">
            <a:avLst/>
          </a:prstGeom>
          <a:noFill/>
          <a:ln/>
        </p:spPr>
        <p:txBody>
          <a:bodyPr wrap="square" rtlCol="0" anchor="ctr"/>
          <a:lstStyle/>
          <a:p>
            <a:pPr indent="0" marL="0">
              <a:lnSpc>
                <a:spcPts val="1700"/>
              </a:lnSpc>
              <a:buNone/>
            </a:pPr>
            <a:r>
              <a:rPr lang="en-US" sz="1450" b="1" dirty="0">
                <a:solidFill>
                  <a:srgbClr val="14261B"/>
                </a:solidFill>
                <a:latin typeface="Calibri" pitchFamily="34" charset="0"/>
                <a:ea typeface="Calibri" pitchFamily="34" charset="-122"/>
                <a:cs typeface="Calibri" pitchFamily="34" charset="-120"/>
              </a:rPr>
              <a:t>Cut overflow incidents by a set target</a:t>
            </a:r>
            <a:endParaRPr lang="en-US" sz="1450" dirty="0"/>
          </a:p>
        </p:txBody>
      </p:sp>
      <p:sp>
        <p:nvSpPr>
          <p:cNvPr id="16" name="Shape 14"/>
          <p:cNvSpPr/>
          <p:nvPr/>
        </p:nvSpPr>
        <p:spPr>
          <a:xfrm>
            <a:off x="6263640" y="2770632"/>
            <a:ext cx="5394960" cy="914400"/>
          </a:xfrm>
          <a:prstGeom prst="roundRect">
            <a:avLst>
              <a:gd name="adj" fmla="val 6000"/>
            </a:avLst>
          </a:prstGeom>
          <a:solidFill>
            <a:srgbClr val="FFFFFF"/>
          </a:solidFill>
          <a:ln w="12700">
            <a:solidFill>
              <a:srgbClr val="E7E2D0"/>
            </a:solidFill>
            <a:prstDash val="solid"/>
          </a:ln>
        </p:spPr>
      </p:sp>
      <p:sp>
        <p:nvSpPr>
          <p:cNvPr id="17" name="Shape 15"/>
          <p:cNvSpPr/>
          <p:nvPr/>
        </p:nvSpPr>
        <p:spPr>
          <a:xfrm>
            <a:off x="6464808" y="2999232"/>
            <a:ext cx="457200" cy="457200"/>
          </a:xfrm>
          <a:prstGeom prst="ellipse">
            <a:avLst/>
          </a:prstGeom>
          <a:solidFill>
            <a:srgbClr val="2F6B45"/>
          </a:solidFill>
          <a:ln/>
        </p:spPr>
      </p:sp>
      <p:sp>
        <p:nvSpPr>
          <p:cNvPr id="18" name="Text 16"/>
          <p:cNvSpPr/>
          <p:nvPr/>
        </p:nvSpPr>
        <p:spPr>
          <a:xfrm>
            <a:off x="6464808" y="2990088"/>
            <a:ext cx="457200" cy="457200"/>
          </a:xfrm>
          <a:prstGeom prst="rect">
            <a:avLst/>
          </a:prstGeom>
          <a:noFill/>
          <a:ln/>
        </p:spPr>
        <p:txBody>
          <a:bodyPr wrap="square"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19" name="Text 17"/>
          <p:cNvSpPr/>
          <p:nvPr/>
        </p:nvSpPr>
        <p:spPr>
          <a:xfrm>
            <a:off x="7132320" y="2770632"/>
            <a:ext cx="4343400" cy="914400"/>
          </a:xfrm>
          <a:prstGeom prst="rect">
            <a:avLst/>
          </a:prstGeom>
          <a:noFill/>
          <a:ln/>
        </p:spPr>
        <p:txBody>
          <a:bodyPr wrap="square" rtlCol="0" anchor="ctr"/>
          <a:lstStyle/>
          <a:p>
            <a:pPr indent="0" marL="0">
              <a:lnSpc>
                <a:spcPts val="1700"/>
              </a:lnSpc>
              <a:buNone/>
            </a:pPr>
            <a:r>
              <a:rPr lang="en-US" sz="1450" b="1" dirty="0">
                <a:solidFill>
                  <a:srgbClr val="14261B"/>
                </a:solidFill>
                <a:latin typeface="Calibri" pitchFamily="34" charset="0"/>
                <a:ea typeface="Calibri" pitchFamily="34" charset="-122"/>
                <a:cs typeface="Calibri" pitchFamily="34" charset="-120"/>
              </a:rPr>
              <a:t>Shrink alert-to-pickup response time</a:t>
            </a:r>
            <a:endParaRPr lang="en-US" sz="1450" dirty="0"/>
          </a:p>
        </p:txBody>
      </p:sp>
      <p:sp>
        <p:nvSpPr>
          <p:cNvPr id="20" name="Shape 18"/>
          <p:cNvSpPr/>
          <p:nvPr/>
        </p:nvSpPr>
        <p:spPr>
          <a:xfrm>
            <a:off x="548640" y="3941064"/>
            <a:ext cx="5394960" cy="914400"/>
          </a:xfrm>
          <a:prstGeom prst="roundRect">
            <a:avLst>
              <a:gd name="adj" fmla="val 6000"/>
            </a:avLst>
          </a:prstGeom>
          <a:solidFill>
            <a:srgbClr val="FFFFFF"/>
          </a:solidFill>
          <a:ln w="12700">
            <a:solidFill>
              <a:srgbClr val="E7E2D0"/>
            </a:solidFill>
            <a:prstDash val="solid"/>
          </a:ln>
        </p:spPr>
      </p:sp>
      <p:sp>
        <p:nvSpPr>
          <p:cNvPr id="21" name="Shape 19"/>
          <p:cNvSpPr/>
          <p:nvPr/>
        </p:nvSpPr>
        <p:spPr>
          <a:xfrm>
            <a:off x="749808" y="4169664"/>
            <a:ext cx="457200" cy="457200"/>
          </a:xfrm>
          <a:prstGeom prst="ellipse">
            <a:avLst/>
          </a:prstGeom>
          <a:solidFill>
            <a:srgbClr val="2F6B45"/>
          </a:solidFill>
          <a:ln/>
        </p:spPr>
      </p:sp>
      <p:sp>
        <p:nvSpPr>
          <p:cNvPr id="22" name="Text 20"/>
          <p:cNvSpPr/>
          <p:nvPr/>
        </p:nvSpPr>
        <p:spPr>
          <a:xfrm>
            <a:off x="749808" y="4160520"/>
            <a:ext cx="457200" cy="457200"/>
          </a:xfrm>
          <a:prstGeom prst="rect">
            <a:avLst/>
          </a:prstGeom>
          <a:noFill/>
          <a:ln/>
        </p:spPr>
        <p:txBody>
          <a:bodyPr wrap="square"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23" name="Text 21"/>
          <p:cNvSpPr/>
          <p:nvPr/>
        </p:nvSpPr>
        <p:spPr>
          <a:xfrm>
            <a:off x="1417320" y="3941064"/>
            <a:ext cx="4343400" cy="914400"/>
          </a:xfrm>
          <a:prstGeom prst="rect">
            <a:avLst/>
          </a:prstGeom>
          <a:noFill/>
          <a:ln/>
        </p:spPr>
        <p:txBody>
          <a:bodyPr wrap="square" rtlCol="0" anchor="ctr"/>
          <a:lstStyle/>
          <a:p>
            <a:pPr indent="0" marL="0">
              <a:lnSpc>
                <a:spcPts val="1700"/>
              </a:lnSpc>
              <a:buNone/>
            </a:pPr>
            <a:r>
              <a:rPr lang="en-US" sz="1450" b="1" dirty="0">
                <a:solidFill>
                  <a:srgbClr val="14261B"/>
                </a:solidFill>
                <a:latin typeface="Calibri" pitchFamily="34" charset="0"/>
                <a:ea typeface="Calibri" pitchFamily="34" charset="-122"/>
                <a:cs typeface="Calibri" pitchFamily="34" charset="-120"/>
              </a:rPr>
              <a:t>Log peak-fill hours per bin location</a:t>
            </a:r>
            <a:endParaRPr lang="en-US" sz="1450" dirty="0"/>
          </a:p>
        </p:txBody>
      </p:sp>
      <p:sp>
        <p:nvSpPr>
          <p:cNvPr id="24" name="Shape 22"/>
          <p:cNvSpPr/>
          <p:nvPr/>
        </p:nvSpPr>
        <p:spPr>
          <a:xfrm>
            <a:off x="548640" y="5340096"/>
            <a:ext cx="5394960" cy="914400"/>
          </a:xfrm>
          <a:prstGeom prst="roundRect">
            <a:avLst>
              <a:gd name="adj" fmla="val 6000"/>
            </a:avLst>
          </a:prstGeom>
          <a:solidFill>
            <a:srgbClr val="C8E45C"/>
          </a:solidFill>
          <a:ln/>
        </p:spPr>
      </p:sp>
      <p:sp>
        <p:nvSpPr>
          <p:cNvPr id="25" name="Text 23"/>
          <p:cNvSpPr/>
          <p:nvPr/>
        </p:nvSpPr>
        <p:spPr>
          <a:xfrm>
            <a:off x="822960" y="5340096"/>
            <a:ext cx="4846320" cy="914400"/>
          </a:xfrm>
          <a:prstGeom prst="rect">
            <a:avLst/>
          </a:prstGeom>
          <a:noFill/>
          <a:ln/>
        </p:spPr>
        <p:txBody>
          <a:bodyPr wrap="square" rtlCol="0" anchor="ctr"/>
          <a:lstStyle/>
          <a:p>
            <a:pPr indent="0" marL="0">
              <a:lnSpc>
                <a:spcPts val="1600"/>
              </a:lnSpc>
              <a:buNone/>
            </a:pPr>
            <a:r>
              <a:rPr lang="en-US" sz="1300" b="1" i="1" dirty="0">
                <a:solidFill>
                  <a:srgbClr val="123524"/>
                </a:solidFill>
                <a:latin typeface="Calibri" pitchFamily="34" charset="0"/>
                <a:ea typeface="Calibri" pitchFamily="34" charset="-122"/>
                <a:cs typeface="Calibri" pitchFamily="34" charset="-120"/>
              </a:rPr>
              <a:t>Each objective is measurable — see speaker notes for targets.</a:t>
            </a:r>
            <a:endParaRPr lang="en-US" sz="1300" dirty="0"/>
          </a:p>
        </p:txBody>
      </p:sp>
      <p:sp>
        <p:nvSpPr>
          <p:cNvPr id="26" name="Text 24"/>
          <p:cNvSpPr/>
          <p:nvPr/>
        </p:nvSpPr>
        <p:spPr>
          <a:xfrm>
            <a:off x="548640" y="6400800"/>
            <a:ext cx="4572000" cy="274320"/>
          </a:xfrm>
          <a:prstGeom prst="rect">
            <a:avLst/>
          </a:prstGeom>
          <a:noFill/>
          <a:ln/>
        </p:spPr>
        <p:txBody>
          <a:bodyPr wrap="square" rtlCol="0" anchor="ctr"/>
          <a:lstStyle/>
          <a:p>
            <a:pPr indent="0" marL="0">
              <a:buNone/>
            </a:pPr>
            <a:r>
              <a:rPr lang="en-US" sz="950" spc="100" kern="0" dirty="0">
                <a:solidFill>
                  <a:srgbClr val="7C8C7F"/>
                </a:solidFill>
                <a:latin typeface="Courier New" pitchFamily="34" charset="0"/>
                <a:ea typeface="Courier New" pitchFamily="34" charset="-122"/>
                <a:cs typeface="Courier New" pitchFamily="34" charset="-120"/>
              </a:rPr>
              <a:t>SMART DUSTBIN — FIELD PROJECT</a:t>
            </a:r>
            <a:endParaRPr lang="en-US" sz="950" dirty="0"/>
          </a:p>
        </p:txBody>
      </p:sp>
      <p:sp>
        <p:nvSpPr>
          <p:cNvPr id="27" name="Text 25"/>
          <p:cNvSpPr/>
          <p:nvPr/>
        </p:nvSpPr>
        <p:spPr>
          <a:xfrm>
            <a:off x="10908792" y="6400800"/>
            <a:ext cx="1005840" cy="274320"/>
          </a:xfrm>
          <a:prstGeom prst="rect">
            <a:avLst/>
          </a:prstGeom>
          <a:noFill/>
          <a:ln/>
        </p:spPr>
        <p:txBody>
          <a:bodyPr wrap="square" rtlCol="0" anchor="ctr"/>
          <a:lstStyle/>
          <a:p>
            <a:pPr algn="r" indent="0" marL="0">
              <a:buNone/>
            </a:pPr>
            <a:r>
              <a:rPr lang="en-US" sz="950" dirty="0">
                <a:solidFill>
                  <a:srgbClr val="7C8C7F"/>
                </a:solidFill>
                <a:latin typeface="Courier New" pitchFamily="34" charset="0"/>
                <a:ea typeface="Courier New" pitchFamily="34" charset="-122"/>
                <a:cs typeface="Courier New" pitchFamily="34" charset="-120"/>
              </a:rPr>
              <a:t>04 / 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6"/>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algn="l" indent="0" marL="0">
              <a:buNone/>
            </a:pPr>
            <a:r>
              <a:rPr lang="en-US" sz="1100" b="1" spc="200" kern="0" dirty="0">
                <a:solidFill>
                  <a:srgbClr val="2F6B45"/>
                </a:solidFill>
                <a:latin typeface="Courier New" pitchFamily="34" charset="0"/>
                <a:ea typeface="Courier New" pitchFamily="34" charset="-122"/>
                <a:cs typeface="Courier New" pitchFamily="34" charset="-120"/>
              </a:rPr>
              <a:t>WHY IT'S HAPPENING</a:t>
            </a:r>
            <a:endParaRPr lang="en-US" sz="1100" dirty="0"/>
          </a:p>
        </p:txBody>
      </p:sp>
      <p:sp>
        <p:nvSpPr>
          <p:cNvPr id="3" name="Text 1"/>
          <p:cNvSpPr/>
          <p:nvPr/>
        </p:nvSpPr>
        <p:spPr>
          <a:xfrm>
            <a:off x="548640" y="658368"/>
            <a:ext cx="9144000" cy="640080"/>
          </a:xfrm>
          <a:prstGeom prst="rect">
            <a:avLst/>
          </a:prstGeom>
          <a:noFill/>
          <a:ln/>
        </p:spPr>
        <p:txBody>
          <a:bodyPr wrap="square" rtlCol="0" anchor="ctr"/>
          <a:lstStyle/>
          <a:p>
            <a:pPr indent="0" marL="0">
              <a:buNone/>
            </a:pPr>
            <a:r>
              <a:rPr lang="en-US" sz="3000" b="1" dirty="0">
                <a:solidFill>
                  <a:srgbClr val="14261B"/>
                </a:solidFill>
                <a:latin typeface="Cambria" pitchFamily="34" charset="0"/>
                <a:ea typeface="Cambria" pitchFamily="34" charset="-122"/>
                <a:cs typeface="Cambria" pitchFamily="34" charset="-120"/>
              </a:rPr>
              <a:t>Problem Analysis</a:t>
            </a:r>
            <a:endParaRPr lang="en-US" sz="3000" dirty="0"/>
          </a:p>
        </p:txBody>
      </p:sp>
      <p:sp>
        <p:nvSpPr>
          <p:cNvPr id="4" name="Shape 2"/>
          <p:cNvSpPr/>
          <p:nvPr/>
        </p:nvSpPr>
        <p:spPr>
          <a:xfrm>
            <a:off x="548640" y="1572768"/>
            <a:ext cx="5989320" cy="566928"/>
          </a:xfrm>
          <a:prstGeom prst="roundRect">
            <a:avLst>
              <a:gd name="adj" fmla="val 8065"/>
            </a:avLst>
          </a:prstGeom>
          <a:solidFill>
            <a:srgbClr val="FFFFFF"/>
          </a:solidFill>
          <a:ln w="12700">
            <a:solidFill>
              <a:srgbClr val="E7E2D0"/>
            </a:solidFill>
            <a:prstDash val="solid"/>
          </a:ln>
        </p:spPr>
      </p:sp>
      <p:sp>
        <p:nvSpPr>
          <p:cNvPr id="5" name="Text 3"/>
          <p:cNvSpPr/>
          <p:nvPr/>
        </p:nvSpPr>
        <p:spPr>
          <a:xfrm>
            <a:off x="713232" y="1572768"/>
            <a:ext cx="1371600" cy="566928"/>
          </a:xfrm>
          <a:prstGeom prst="rect">
            <a:avLst/>
          </a:prstGeom>
          <a:noFill/>
          <a:ln/>
        </p:spPr>
        <p:txBody>
          <a:bodyPr wrap="square" rtlCol="0" anchor="ctr"/>
          <a:lstStyle/>
          <a:p>
            <a:pPr indent="0" marL="0">
              <a:buNone/>
            </a:pPr>
            <a:r>
              <a:rPr lang="en-US" sz="1000" b="1" spc="100" kern="0" dirty="0">
                <a:solidFill>
                  <a:srgbClr val="2F6B45"/>
                </a:solidFill>
                <a:latin typeface="Courier New" pitchFamily="34" charset="0"/>
                <a:ea typeface="Courier New" pitchFamily="34" charset="-122"/>
                <a:cs typeface="Courier New" pitchFamily="34" charset="-120"/>
              </a:rPr>
              <a:t>WHY 1</a:t>
            </a:r>
            <a:endParaRPr lang="en-US" sz="1000" dirty="0"/>
          </a:p>
        </p:txBody>
      </p:sp>
      <p:sp>
        <p:nvSpPr>
          <p:cNvPr id="6" name="Text 4"/>
          <p:cNvSpPr/>
          <p:nvPr/>
        </p:nvSpPr>
        <p:spPr>
          <a:xfrm>
            <a:off x="2148840" y="1572768"/>
            <a:ext cx="4206240" cy="566928"/>
          </a:xfrm>
          <a:prstGeom prst="rect">
            <a:avLst/>
          </a:prstGeom>
          <a:noFill/>
          <a:ln/>
        </p:spPr>
        <p:txBody>
          <a:bodyPr wrap="square" rtlCol="0" anchor="ctr"/>
          <a:lstStyle/>
          <a:p>
            <a:pPr indent="0" marL="0">
              <a:buNone/>
            </a:pPr>
            <a:r>
              <a:rPr lang="en-US" sz="1300" b="1" dirty="0">
                <a:solidFill>
                  <a:srgbClr val="14261B"/>
                </a:solidFill>
                <a:latin typeface="Calibri" pitchFamily="34" charset="0"/>
                <a:ea typeface="Calibri" pitchFamily="34" charset="-122"/>
                <a:cs typeface="Calibri" pitchFamily="34" charset="-120"/>
              </a:rPr>
              <a:t>Bins overflow before collection</a:t>
            </a:r>
            <a:endParaRPr lang="en-US" sz="1300" dirty="0"/>
          </a:p>
        </p:txBody>
      </p:sp>
      <p:sp>
        <p:nvSpPr>
          <p:cNvPr id="7" name="Text 5"/>
          <p:cNvSpPr/>
          <p:nvPr/>
        </p:nvSpPr>
        <p:spPr>
          <a:xfrm>
            <a:off x="658368" y="2121408"/>
            <a:ext cx="365760" cy="201168"/>
          </a:xfrm>
          <a:prstGeom prst="rect">
            <a:avLst/>
          </a:prstGeom>
          <a:noFill/>
          <a:ln/>
        </p:spPr>
        <p:txBody>
          <a:bodyPr wrap="square" rtlCol="0" anchor="ctr"/>
          <a:lstStyle/>
          <a:p>
            <a:pPr indent="0" marL="0">
              <a:buNone/>
            </a:pPr>
            <a:r>
              <a:rPr lang="en-US" sz="1200" dirty="0">
                <a:solidFill>
                  <a:srgbClr val="5C9A6B"/>
                </a:solidFill>
                <a:latin typeface="Calibri" pitchFamily="34" charset="0"/>
                <a:ea typeface="Calibri" pitchFamily="34" charset="-122"/>
                <a:cs typeface="Calibri" pitchFamily="34" charset="-120"/>
              </a:rPr>
              <a:t>↓</a:t>
            </a:r>
            <a:endParaRPr lang="en-US" sz="1200" dirty="0"/>
          </a:p>
        </p:txBody>
      </p:sp>
      <p:sp>
        <p:nvSpPr>
          <p:cNvPr id="8" name="Shape 6"/>
          <p:cNvSpPr/>
          <p:nvPr/>
        </p:nvSpPr>
        <p:spPr>
          <a:xfrm>
            <a:off x="548640" y="2267712"/>
            <a:ext cx="5989320" cy="566928"/>
          </a:xfrm>
          <a:prstGeom prst="roundRect">
            <a:avLst>
              <a:gd name="adj" fmla="val 8065"/>
            </a:avLst>
          </a:prstGeom>
          <a:solidFill>
            <a:srgbClr val="FFFFFF"/>
          </a:solidFill>
          <a:ln w="12700">
            <a:solidFill>
              <a:srgbClr val="E7E2D0"/>
            </a:solidFill>
            <a:prstDash val="solid"/>
          </a:ln>
        </p:spPr>
      </p:sp>
      <p:sp>
        <p:nvSpPr>
          <p:cNvPr id="9" name="Text 7"/>
          <p:cNvSpPr/>
          <p:nvPr/>
        </p:nvSpPr>
        <p:spPr>
          <a:xfrm>
            <a:off x="713232" y="2267712"/>
            <a:ext cx="1371600" cy="566928"/>
          </a:xfrm>
          <a:prstGeom prst="rect">
            <a:avLst/>
          </a:prstGeom>
          <a:noFill/>
          <a:ln/>
        </p:spPr>
        <p:txBody>
          <a:bodyPr wrap="square" rtlCol="0" anchor="ctr"/>
          <a:lstStyle/>
          <a:p>
            <a:pPr indent="0" marL="0">
              <a:buNone/>
            </a:pPr>
            <a:r>
              <a:rPr lang="en-US" sz="1000" b="1" spc="100" kern="0" dirty="0">
                <a:solidFill>
                  <a:srgbClr val="2F6B45"/>
                </a:solidFill>
                <a:latin typeface="Courier New" pitchFamily="34" charset="0"/>
                <a:ea typeface="Courier New" pitchFamily="34" charset="-122"/>
                <a:cs typeface="Courier New" pitchFamily="34" charset="-120"/>
              </a:rPr>
              <a:t>WHY 2</a:t>
            </a:r>
            <a:endParaRPr lang="en-US" sz="1000" dirty="0"/>
          </a:p>
        </p:txBody>
      </p:sp>
      <p:sp>
        <p:nvSpPr>
          <p:cNvPr id="10" name="Text 8"/>
          <p:cNvSpPr/>
          <p:nvPr/>
        </p:nvSpPr>
        <p:spPr>
          <a:xfrm>
            <a:off x="2148840" y="2267712"/>
            <a:ext cx="4206240" cy="566928"/>
          </a:xfrm>
          <a:prstGeom prst="rect">
            <a:avLst/>
          </a:prstGeom>
          <a:noFill/>
          <a:ln/>
        </p:spPr>
        <p:txBody>
          <a:bodyPr wrap="square" rtlCol="0" anchor="ctr"/>
          <a:lstStyle/>
          <a:p>
            <a:pPr indent="0" marL="0">
              <a:buNone/>
            </a:pPr>
            <a:r>
              <a:rPr lang="en-US" sz="1300" b="1" dirty="0">
                <a:solidFill>
                  <a:srgbClr val="14261B"/>
                </a:solidFill>
                <a:latin typeface="Calibri" pitchFamily="34" charset="0"/>
                <a:ea typeface="Calibri" pitchFamily="34" charset="-122"/>
                <a:cs typeface="Calibri" pitchFamily="34" charset="-120"/>
              </a:rPr>
              <a:t>Collection runs once a day, fixed</a:t>
            </a:r>
            <a:endParaRPr lang="en-US" sz="1300" dirty="0"/>
          </a:p>
        </p:txBody>
      </p:sp>
      <p:sp>
        <p:nvSpPr>
          <p:cNvPr id="11" name="Text 9"/>
          <p:cNvSpPr/>
          <p:nvPr/>
        </p:nvSpPr>
        <p:spPr>
          <a:xfrm>
            <a:off x="658368" y="2816352"/>
            <a:ext cx="365760" cy="201168"/>
          </a:xfrm>
          <a:prstGeom prst="rect">
            <a:avLst/>
          </a:prstGeom>
          <a:noFill/>
          <a:ln/>
        </p:spPr>
        <p:txBody>
          <a:bodyPr wrap="square" rtlCol="0" anchor="ctr"/>
          <a:lstStyle/>
          <a:p>
            <a:pPr indent="0" marL="0">
              <a:buNone/>
            </a:pPr>
            <a:r>
              <a:rPr lang="en-US" sz="1200" dirty="0">
                <a:solidFill>
                  <a:srgbClr val="5C9A6B"/>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548640" y="2962656"/>
            <a:ext cx="5989320" cy="566928"/>
          </a:xfrm>
          <a:prstGeom prst="roundRect">
            <a:avLst>
              <a:gd name="adj" fmla="val 8065"/>
            </a:avLst>
          </a:prstGeom>
          <a:solidFill>
            <a:srgbClr val="FFFFFF"/>
          </a:solidFill>
          <a:ln w="12700">
            <a:solidFill>
              <a:srgbClr val="E7E2D0"/>
            </a:solidFill>
            <a:prstDash val="solid"/>
          </a:ln>
        </p:spPr>
      </p:sp>
      <p:sp>
        <p:nvSpPr>
          <p:cNvPr id="13" name="Text 11"/>
          <p:cNvSpPr/>
          <p:nvPr/>
        </p:nvSpPr>
        <p:spPr>
          <a:xfrm>
            <a:off x="713232" y="2962656"/>
            <a:ext cx="1371600" cy="566928"/>
          </a:xfrm>
          <a:prstGeom prst="rect">
            <a:avLst/>
          </a:prstGeom>
          <a:noFill/>
          <a:ln/>
        </p:spPr>
        <p:txBody>
          <a:bodyPr wrap="square" rtlCol="0" anchor="ctr"/>
          <a:lstStyle/>
          <a:p>
            <a:pPr indent="0" marL="0">
              <a:buNone/>
            </a:pPr>
            <a:r>
              <a:rPr lang="en-US" sz="1000" b="1" spc="100" kern="0" dirty="0">
                <a:solidFill>
                  <a:srgbClr val="2F6B45"/>
                </a:solidFill>
                <a:latin typeface="Courier New" pitchFamily="34" charset="0"/>
                <a:ea typeface="Courier New" pitchFamily="34" charset="-122"/>
                <a:cs typeface="Courier New" pitchFamily="34" charset="-120"/>
              </a:rPr>
              <a:t>WHY 3</a:t>
            </a:r>
            <a:endParaRPr lang="en-US" sz="1000" dirty="0"/>
          </a:p>
        </p:txBody>
      </p:sp>
      <p:sp>
        <p:nvSpPr>
          <p:cNvPr id="14" name="Text 12"/>
          <p:cNvSpPr/>
          <p:nvPr/>
        </p:nvSpPr>
        <p:spPr>
          <a:xfrm>
            <a:off x="2148840" y="2962656"/>
            <a:ext cx="4206240" cy="566928"/>
          </a:xfrm>
          <a:prstGeom prst="rect">
            <a:avLst/>
          </a:prstGeom>
          <a:noFill/>
          <a:ln/>
        </p:spPr>
        <p:txBody>
          <a:bodyPr wrap="square" rtlCol="0" anchor="ctr"/>
          <a:lstStyle/>
          <a:p>
            <a:pPr indent="0" marL="0">
              <a:buNone/>
            </a:pPr>
            <a:r>
              <a:rPr lang="en-US" sz="1300" b="1" dirty="0">
                <a:solidFill>
                  <a:srgbClr val="14261B"/>
                </a:solidFill>
                <a:latin typeface="Calibri" pitchFamily="34" charset="0"/>
                <a:ea typeface="Calibri" pitchFamily="34" charset="-122"/>
                <a:cs typeface="Calibri" pitchFamily="34" charset="-120"/>
              </a:rPr>
              <a:t>Schedule ignores actual fill level</a:t>
            </a:r>
            <a:endParaRPr lang="en-US" sz="1300" dirty="0"/>
          </a:p>
        </p:txBody>
      </p:sp>
      <p:sp>
        <p:nvSpPr>
          <p:cNvPr id="15" name="Text 13"/>
          <p:cNvSpPr/>
          <p:nvPr/>
        </p:nvSpPr>
        <p:spPr>
          <a:xfrm>
            <a:off x="658368" y="3511296"/>
            <a:ext cx="365760" cy="201168"/>
          </a:xfrm>
          <a:prstGeom prst="rect">
            <a:avLst/>
          </a:prstGeom>
          <a:noFill/>
          <a:ln/>
        </p:spPr>
        <p:txBody>
          <a:bodyPr wrap="square" rtlCol="0" anchor="ctr"/>
          <a:lstStyle/>
          <a:p>
            <a:pPr indent="0" marL="0">
              <a:buNone/>
            </a:pPr>
            <a:r>
              <a:rPr lang="en-US" sz="1200" dirty="0">
                <a:solidFill>
                  <a:srgbClr val="5C9A6B"/>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548640" y="3657600"/>
            <a:ext cx="5989320" cy="566928"/>
          </a:xfrm>
          <a:prstGeom prst="roundRect">
            <a:avLst>
              <a:gd name="adj" fmla="val 8065"/>
            </a:avLst>
          </a:prstGeom>
          <a:solidFill>
            <a:srgbClr val="FFFFFF"/>
          </a:solidFill>
          <a:ln w="12700">
            <a:solidFill>
              <a:srgbClr val="E7E2D0"/>
            </a:solidFill>
            <a:prstDash val="solid"/>
          </a:ln>
        </p:spPr>
      </p:sp>
      <p:sp>
        <p:nvSpPr>
          <p:cNvPr id="17" name="Text 15"/>
          <p:cNvSpPr/>
          <p:nvPr/>
        </p:nvSpPr>
        <p:spPr>
          <a:xfrm>
            <a:off x="713232" y="3657600"/>
            <a:ext cx="1371600" cy="566928"/>
          </a:xfrm>
          <a:prstGeom prst="rect">
            <a:avLst/>
          </a:prstGeom>
          <a:noFill/>
          <a:ln/>
        </p:spPr>
        <p:txBody>
          <a:bodyPr wrap="square" rtlCol="0" anchor="ctr"/>
          <a:lstStyle/>
          <a:p>
            <a:pPr indent="0" marL="0">
              <a:buNone/>
            </a:pPr>
            <a:r>
              <a:rPr lang="en-US" sz="1000" b="1" spc="100" kern="0" dirty="0">
                <a:solidFill>
                  <a:srgbClr val="2F6B45"/>
                </a:solidFill>
                <a:latin typeface="Courier New" pitchFamily="34" charset="0"/>
                <a:ea typeface="Courier New" pitchFamily="34" charset="-122"/>
                <a:cs typeface="Courier New" pitchFamily="34" charset="-120"/>
              </a:rPr>
              <a:t>WHY 4</a:t>
            </a:r>
            <a:endParaRPr lang="en-US" sz="1000" dirty="0"/>
          </a:p>
        </p:txBody>
      </p:sp>
      <p:sp>
        <p:nvSpPr>
          <p:cNvPr id="18" name="Text 16"/>
          <p:cNvSpPr/>
          <p:nvPr/>
        </p:nvSpPr>
        <p:spPr>
          <a:xfrm>
            <a:off x="2148840" y="3657600"/>
            <a:ext cx="4206240" cy="566928"/>
          </a:xfrm>
          <a:prstGeom prst="rect">
            <a:avLst/>
          </a:prstGeom>
          <a:noFill/>
          <a:ln/>
        </p:spPr>
        <p:txBody>
          <a:bodyPr wrap="square" rtlCol="0" anchor="ctr"/>
          <a:lstStyle/>
          <a:p>
            <a:pPr indent="0" marL="0">
              <a:buNone/>
            </a:pPr>
            <a:r>
              <a:rPr lang="en-US" sz="1300" b="1" dirty="0">
                <a:solidFill>
                  <a:srgbClr val="14261B"/>
                </a:solidFill>
                <a:latin typeface="Calibri" pitchFamily="34" charset="0"/>
                <a:ea typeface="Calibri" pitchFamily="34" charset="-122"/>
                <a:cs typeface="Calibri" pitchFamily="34" charset="-120"/>
              </a:rPr>
              <a:t>No visibility into current level</a:t>
            </a:r>
            <a:endParaRPr lang="en-US" sz="1300" dirty="0"/>
          </a:p>
        </p:txBody>
      </p:sp>
      <p:sp>
        <p:nvSpPr>
          <p:cNvPr id="19" name="Text 17"/>
          <p:cNvSpPr/>
          <p:nvPr/>
        </p:nvSpPr>
        <p:spPr>
          <a:xfrm>
            <a:off x="658368" y="4206240"/>
            <a:ext cx="365760" cy="201168"/>
          </a:xfrm>
          <a:prstGeom prst="rect">
            <a:avLst/>
          </a:prstGeom>
          <a:noFill/>
          <a:ln/>
        </p:spPr>
        <p:txBody>
          <a:bodyPr wrap="square" rtlCol="0" anchor="ctr"/>
          <a:lstStyle/>
          <a:p>
            <a:pPr indent="0" marL="0">
              <a:buNone/>
            </a:pPr>
            <a:r>
              <a:rPr lang="en-US" sz="1200" dirty="0">
                <a:solidFill>
                  <a:srgbClr val="5C9A6B"/>
                </a:solidFill>
                <a:latin typeface="Calibri" pitchFamily="34" charset="0"/>
                <a:ea typeface="Calibri" pitchFamily="34" charset="-122"/>
                <a:cs typeface="Calibri" pitchFamily="34" charset="-120"/>
              </a:rPr>
              <a:t>↓</a:t>
            </a:r>
            <a:endParaRPr lang="en-US" sz="1200" dirty="0"/>
          </a:p>
        </p:txBody>
      </p:sp>
      <p:sp>
        <p:nvSpPr>
          <p:cNvPr id="20" name="Shape 18"/>
          <p:cNvSpPr/>
          <p:nvPr/>
        </p:nvSpPr>
        <p:spPr>
          <a:xfrm>
            <a:off x="548640" y="4352544"/>
            <a:ext cx="5989320" cy="566928"/>
          </a:xfrm>
          <a:prstGeom prst="roundRect">
            <a:avLst>
              <a:gd name="adj" fmla="val 8065"/>
            </a:avLst>
          </a:prstGeom>
          <a:solidFill>
            <a:srgbClr val="2F6B45"/>
          </a:solidFill>
          <a:ln w="12700">
            <a:solidFill>
              <a:srgbClr val="2F6B45"/>
            </a:solidFill>
            <a:prstDash val="solid"/>
          </a:ln>
        </p:spPr>
      </p:sp>
      <p:sp>
        <p:nvSpPr>
          <p:cNvPr id="21" name="Text 19"/>
          <p:cNvSpPr/>
          <p:nvPr/>
        </p:nvSpPr>
        <p:spPr>
          <a:xfrm>
            <a:off x="713232" y="4352544"/>
            <a:ext cx="1371600" cy="566928"/>
          </a:xfrm>
          <a:prstGeom prst="rect">
            <a:avLst/>
          </a:prstGeom>
          <a:noFill/>
          <a:ln/>
        </p:spPr>
        <p:txBody>
          <a:bodyPr wrap="square" rtlCol="0" anchor="ctr"/>
          <a:lstStyle/>
          <a:p>
            <a:pPr indent="0" marL="0">
              <a:buNone/>
            </a:pPr>
            <a:r>
              <a:rPr lang="en-US" sz="1000" b="1" spc="100" kern="0" dirty="0">
                <a:solidFill>
                  <a:srgbClr val="C8E45C"/>
                </a:solidFill>
                <a:latin typeface="Courier New" pitchFamily="34" charset="0"/>
                <a:ea typeface="Courier New" pitchFamily="34" charset="-122"/>
                <a:cs typeface="Courier New" pitchFamily="34" charset="-120"/>
              </a:rPr>
              <a:t>ROOT CAUSE</a:t>
            </a:r>
            <a:endParaRPr lang="en-US" sz="1000" dirty="0"/>
          </a:p>
        </p:txBody>
      </p:sp>
      <p:sp>
        <p:nvSpPr>
          <p:cNvPr id="22" name="Text 20"/>
          <p:cNvSpPr/>
          <p:nvPr/>
        </p:nvSpPr>
        <p:spPr>
          <a:xfrm>
            <a:off x="2148840" y="4352544"/>
            <a:ext cx="4206240" cy="56692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real-time monitoring in place</a:t>
            </a:r>
            <a:endParaRPr lang="en-US" sz="1300" dirty="0"/>
          </a:p>
        </p:txBody>
      </p:sp>
      <p:sp>
        <p:nvSpPr>
          <p:cNvPr id="23" name="Shape 21"/>
          <p:cNvSpPr/>
          <p:nvPr/>
        </p:nvSpPr>
        <p:spPr>
          <a:xfrm>
            <a:off x="6903720" y="1572768"/>
            <a:ext cx="4754880" cy="1207008"/>
          </a:xfrm>
          <a:prstGeom prst="roundRect">
            <a:avLst>
              <a:gd name="adj" fmla="val 4545"/>
            </a:avLst>
          </a:prstGeom>
          <a:solidFill>
            <a:srgbClr val="123524"/>
          </a:solidFill>
          <a:ln/>
        </p:spPr>
      </p:sp>
      <p:sp>
        <p:nvSpPr>
          <p:cNvPr id="24" name="Text 22"/>
          <p:cNvSpPr/>
          <p:nvPr/>
        </p:nvSpPr>
        <p:spPr>
          <a:xfrm>
            <a:off x="7132320" y="1682496"/>
            <a:ext cx="4297680" cy="566928"/>
          </a:xfrm>
          <a:prstGeom prst="rect">
            <a:avLst/>
          </a:prstGeom>
          <a:noFill/>
          <a:ln/>
        </p:spPr>
        <p:txBody>
          <a:bodyPr wrap="square" rtlCol="0" anchor="ctr"/>
          <a:lstStyle/>
          <a:p>
            <a:pPr indent="0" marL="0">
              <a:buNone/>
            </a:pPr>
            <a:r>
              <a:rPr lang="en-US" sz="2600" b="1" dirty="0">
                <a:solidFill>
                  <a:srgbClr val="C8E45C"/>
                </a:solidFill>
                <a:latin typeface="Cambria" pitchFamily="34" charset="0"/>
                <a:ea typeface="Cambria" pitchFamily="34" charset="-122"/>
                <a:cs typeface="Cambria" pitchFamily="34" charset="-120"/>
              </a:rPr>
              <a:t>3.2 hrs/day</a:t>
            </a:r>
            <a:endParaRPr lang="en-US" sz="2600" dirty="0"/>
          </a:p>
        </p:txBody>
      </p:sp>
      <p:sp>
        <p:nvSpPr>
          <p:cNvPr id="25" name="Text 23"/>
          <p:cNvSpPr/>
          <p:nvPr/>
        </p:nvSpPr>
        <p:spPr>
          <a:xfrm>
            <a:off x="7132320" y="2304288"/>
            <a:ext cx="4297680" cy="411480"/>
          </a:xfrm>
          <a:prstGeom prst="rect">
            <a:avLst/>
          </a:prstGeom>
          <a:noFill/>
          <a:ln/>
        </p:spPr>
        <p:txBody>
          <a:bodyPr wrap="square" rtlCol="0" anchor="ctr"/>
          <a:lstStyle/>
          <a:p>
            <a:pPr indent="0" marL="0">
              <a:buNone/>
            </a:pPr>
            <a:r>
              <a:rPr lang="en-US" sz="1150" dirty="0">
                <a:solidFill>
                  <a:srgbClr val="E7E2D0"/>
                </a:solidFill>
                <a:latin typeface="Calibri" pitchFamily="34" charset="0"/>
                <a:ea typeface="Calibri" pitchFamily="34" charset="-122"/>
                <a:cs typeface="Calibri" pitchFamily="34" charset="-120"/>
              </a:rPr>
              <a:t>avg. time a bin stays overflowing</a:t>
            </a:r>
            <a:endParaRPr lang="en-US" sz="1150" dirty="0"/>
          </a:p>
        </p:txBody>
      </p:sp>
      <p:sp>
        <p:nvSpPr>
          <p:cNvPr id="26" name="Shape 24"/>
          <p:cNvSpPr/>
          <p:nvPr/>
        </p:nvSpPr>
        <p:spPr>
          <a:xfrm>
            <a:off x="6903720" y="2926080"/>
            <a:ext cx="4754880" cy="1207008"/>
          </a:xfrm>
          <a:prstGeom prst="roundRect">
            <a:avLst>
              <a:gd name="adj" fmla="val 4545"/>
            </a:avLst>
          </a:prstGeom>
          <a:solidFill>
            <a:srgbClr val="123524"/>
          </a:solidFill>
          <a:ln/>
        </p:spPr>
      </p:sp>
      <p:sp>
        <p:nvSpPr>
          <p:cNvPr id="27" name="Text 25"/>
          <p:cNvSpPr/>
          <p:nvPr/>
        </p:nvSpPr>
        <p:spPr>
          <a:xfrm>
            <a:off x="7132320" y="3035808"/>
            <a:ext cx="4297680" cy="566928"/>
          </a:xfrm>
          <a:prstGeom prst="rect">
            <a:avLst/>
          </a:prstGeom>
          <a:noFill/>
          <a:ln/>
        </p:spPr>
        <p:txBody>
          <a:bodyPr wrap="square" rtlCol="0" anchor="ctr"/>
          <a:lstStyle/>
          <a:p>
            <a:pPr indent="0" marL="0">
              <a:buNone/>
            </a:pPr>
            <a:r>
              <a:rPr lang="en-US" sz="2600" b="1" dirty="0">
                <a:solidFill>
                  <a:srgbClr val="C8E45C"/>
                </a:solidFill>
                <a:latin typeface="Cambria" pitchFamily="34" charset="0"/>
                <a:ea typeface="Cambria" pitchFamily="34" charset="-122"/>
                <a:cs typeface="Cambria" pitchFamily="34" charset="-120"/>
              </a:rPr>
              <a:t>68%</a:t>
            </a:r>
            <a:endParaRPr lang="en-US" sz="2600" dirty="0"/>
          </a:p>
        </p:txBody>
      </p:sp>
      <p:sp>
        <p:nvSpPr>
          <p:cNvPr id="28" name="Text 26"/>
          <p:cNvSpPr/>
          <p:nvPr/>
        </p:nvSpPr>
        <p:spPr>
          <a:xfrm>
            <a:off x="7132320" y="3657600"/>
            <a:ext cx="4297680" cy="411480"/>
          </a:xfrm>
          <a:prstGeom prst="rect">
            <a:avLst/>
          </a:prstGeom>
          <a:noFill/>
          <a:ln/>
        </p:spPr>
        <p:txBody>
          <a:bodyPr wrap="square" rtlCol="0" anchor="ctr"/>
          <a:lstStyle/>
          <a:p>
            <a:pPr indent="0" marL="0">
              <a:buNone/>
            </a:pPr>
            <a:r>
              <a:rPr lang="en-US" sz="1150" dirty="0">
                <a:solidFill>
                  <a:srgbClr val="E7E2D0"/>
                </a:solidFill>
                <a:latin typeface="Calibri" pitchFamily="34" charset="0"/>
                <a:ea typeface="Calibri" pitchFamily="34" charset="-122"/>
                <a:cs typeface="Calibri" pitchFamily="34" charset="-120"/>
              </a:rPr>
              <a:t>of surveyed bins overflow pre-collection</a:t>
            </a:r>
            <a:endParaRPr lang="en-US" sz="1150" dirty="0"/>
          </a:p>
        </p:txBody>
      </p:sp>
      <p:sp>
        <p:nvSpPr>
          <p:cNvPr id="29" name="Shape 27"/>
          <p:cNvSpPr/>
          <p:nvPr/>
        </p:nvSpPr>
        <p:spPr>
          <a:xfrm>
            <a:off x="6903720" y="4279392"/>
            <a:ext cx="4754880" cy="1207008"/>
          </a:xfrm>
          <a:prstGeom prst="roundRect">
            <a:avLst>
              <a:gd name="adj" fmla="val 4545"/>
            </a:avLst>
          </a:prstGeom>
          <a:solidFill>
            <a:srgbClr val="123524"/>
          </a:solidFill>
          <a:ln/>
        </p:spPr>
      </p:sp>
      <p:sp>
        <p:nvSpPr>
          <p:cNvPr id="30" name="Text 28"/>
          <p:cNvSpPr/>
          <p:nvPr/>
        </p:nvSpPr>
        <p:spPr>
          <a:xfrm>
            <a:off x="7132320" y="4389120"/>
            <a:ext cx="4297680" cy="566928"/>
          </a:xfrm>
          <a:prstGeom prst="rect">
            <a:avLst/>
          </a:prstGeom>
          <a:noFill/>
          <a:ln/>
        </p:spPr>
        <p:txBody>
          <a:bodyPr wrap="square" rtlCol="0" anchor="ctr"/>
          <a:lstStyle/>
          <a:p>
            <a:pPr indent="0" marL="0">
              <a:buNone/>
            </a:pPr>
            <a:r>
              <a:rPr lang="en-US" sz="2600" b="1" dirty="0">
                <a:solidFill>
                  <a:srgbClr val="C8E45C"/>
                </a:solidFill>
                <a:latin typeface="Cambria" pitchFamily="34" charset="0"/>
                <a:ea typeface="Cambria" pitchFamily="34" charset="-122"/>
                <a:cs typeface="Cambria" pitchFamily="34" charset="-120"/>
              </a:rPr>
              <a:t>1×/day</a:t>
            </a:r>
            <a:endParaRPr lang="en-US" sz="2600" dirty="0"/>
          </a:p>
        </p:txBody>
      </p:sp>
      <p:sp>
        <p:nvSpPr>
          <p:cNvPr id="31" name="Text 29"/>
          <p:cNvSpPr/>
          <p:nvPr/>
        </p:nvSpPr>
        <p:spPr>
          <a:xfrm>
            <a:off x="7132320" y="5010912"/>
            <a:ext cx="4297680" cy="411480"/>
          </a:xfrm>
          <a:prstGeom prst="rect">
            <a:avLst/>
          </a:prstGeom>
          <a:noFill/>
          <a:ln/>
        </p:spPr>
        <p:txBody>
          <a:bodyPr wrap="square" rtlCol="0" anchor="ctr"/>
          <a:lstStyle/>
          <a:p>
            <a:pPr indent="0" marL="0">
              <a:buNone/>
            </a:pPr>
            <a:r>
              <a:rPr lang="en-US" sz="1150" dirty="0">
                <a:solidFill>
                  <a:srgbClr val="E7E2D0"/>
                </a:solidFill>
                <a:latin typeface="Calibri" pitchFamily="34" charset="0"/>
                <a:ea typeface="Calibri" pitchFamily="34" charset="-122"/>
                <a:cs typeface="Calibri" pitchFamily="34" charset="-120"/>
              </a:rPr>
              <a:t>fixed collection frequency, site-wide</a:t>
            </a:r>
            <a:endParaRPr lang="en-US" sz="1150" dirty="0"/>
          </a:p>
        </p:txBody>
      </p:sp>
      <p:sp>
        <p:nvSpPr>
          <p:cNvPr id="32" name="Text 30"/>
          <p:cNvSpPr/>
          <p:nvPr/>
        </p:nvSpPr>
        <p:spPr>
          <a:xfrm>
            <a:off x="6903720" y="5614416"/>
            <a:ext cx="4754880" cy="320040"/>
          </a:xfrm>
          <a:prstGeom prst="rect">
            <a:avLst/>
          </a:prstGeom>
          <a:noFill/>
          <a:ln/>
        </p:spPr>
        <p:txBody>
          <a:bodyPr wrap="square" rtlCol="0" anchor="ctr"/>
          <a:lstStyle/>
          <a:p>
            <a:pPr indent="0" marL="0">
              <a:buNone/>
            </a:pPr>
            <a:r>
              <a:rPr lang="en-US" sz="1000" i="1" dirty="0">
                <a:solidFill>
                  <a:srgbClr val="4A5A4E"/>
                </a:solidFill>
                <a:latin typeface="Calibri" pitchFamily="34" charset="0"/>
                <a:ea typeface="Calibri" pitchFamily="34" charset="-122"/>
                <a:cs typeface="Calibri" pitchFamily="34" charset="-120"/>
              </a:rPr>
              <a:t>[ sample figures — swap in your own survey numbers ]</a:t>
            </a:r>
            <a:endParaRPr lang="en-US" sz="1000" dirty="0"/>
          </a:p>
        </p:txBody>
      </p:sp>
      <p:sp>
        <p:nvSpPr>
          <p:cNvPr id="33" name="Shape 31"/>
          <p:cNvSpPr/>
          <p:nvPr/>
        </p:nvSpPr>
        <p:spPr>
          <a:xfrm>
            <a:off x="548640" y="5806440"/>
            <a:ext cx="1101852" cy="365760"/>
          </a:xfrm>
          <a:prstGeom prst="roundRect">
            <a:avLst>
              <a:gd name="adj" fmla="val 50000"/>
            </a:avLst>
          </a:prstGeom>
          <a:solidFill>
            <a:srgbClr val="E7E2D0"/>
          </a:solidFill>
          <a:ln/>
        </p:spPr>
      </p:sp>
      <p:sp>
        <p:nvSpPr>
          <p:cNvPr id="34" name="Text 32"/>
          <p:cNvSpPr/>
          <p:nvPr/>
        </p:nvSpPr>
        <p:spPr>
          <a:xfrm>
            <a:off x="548640" y="5806440"/>
            <a:ext cx="1101852" cy="365760"/>
          </a:xfrm>
          <a:prstGeom prst="rect">
            <a:avLst/>
          </a:prstGeom>
          <a:noFill/>
          <a:ln/>
        </p:spPr>
        <p:txBody>
          <a:bodyPr wrap="square" rtlCol="0" anchor="ctr"/>
          <a:lstStyle/>
          <a:p>
            <a:pPr algn="ctr" indent="0" marL="0">
              <a:buNone/>
            </a:pPr>
            <a:r>
              <a:rPr lang="en-US" sz="1050" b="1" dirty="0">
                <a:solidFill>
                  <a:srgbClr val="14261B"/>
                </a:solidFill>
                <a:latin typeface="Calibri" pitchFamily="34" charset="0"/>
                <a:ea typeface="Calibri" pitchFamily="34" charset="-122"/>
                <a:cs typeface="Calibri" pitchFamily="34" charset="-120"/>
              </a:rPr>
              <a:t>Residents</a:t>
            </a:r>
            <a:endParaRPr lang="en-US" sz="1050" dirty="0"/>
          </a:p>
        </p:txBody>
      </p:sp>
      <p:sp>
        <p:nvSpPr>
          <p:cNvPr id="35" name="Shape 33"/>
          <p:cNvSpPr/>
          <p:nvPr/>
        </p:nvSpPr>
        <p:spPr>
          <a:xfrm>
            <a:off x="1787652" y="5806440"/>
            <a:ext cx="1623060" cy="365760"/>
          </a:xfrm>
          <a:prstGeom prst="roundRect">
            <a:avLst>
              <a:gd name="adj" fmla="val 50000"/>
            </a:avLst>
          </a:prstGeom>
          <a:solidFill>
            <a:srgbClr val="E7E2D0"/>
          </a:solidFill>
          <a:ln/>
        </p:spPr>
      </p:sp>
      <p:sp>
        <p:nvSpPr>
          <p:cNvPr id="36" name="Text 34"/>
          <p:cNvSpPr/>
          <p:nvPr/>
        </p:nvSpPr>
        <p:spPr>
          <a:xfrm>
            <a:off x="1787652" y="5806440"/>
            <a:ext cx="1623060" cy="365760"/>
          </a:xfrm>
          <a:prstGeom prst="rect">
            <a:avLst/>
          </a:prstGeom>
          <a:noFill/>
          <a:ln/>
        </p:spPr>
        <p:txBody>
          <a:bodyPr wrap="square" rtlCol="0" anchor="ctr"/>
          <a:lstStyle/>
          <a:p>
            <a:pPr algn="ctr" indent="0" marL="0">
              <a:buNone/>
            </a:pPr>
            <a:r>
              <a:rPr lang="en-US" sz="1050" b="1" dirty="0">
                <a:solidFill>
                  <a:srgbClr val="14261B"/>
                </a:solidFill>
                <a:latin typeface="Calibri" pitchFamily="34" charset="0"/>
                <a:ea typeface="Calibri" pitchFamily="34" charset="-122"/>
                <a:cs typeface="Calibri" pitchFamily="34" charset="-120"/>
              </a:rPr>
              <a:t>Municipal Corp.</a:t>
            </a:r>
            <a:endParaRPr lang="en-US" sz="1050" dirty="0"/>
          </a:p>
        </p:txBody>
      </p:sp>
      <p:sp>
        <p:nvSpPr>
          <p:cNvPr id="37" name="Shape 35"/>
          <p:cNvSpPr/>
          <p:nvPr/>
        </p:nvSpPr>
        <p:spPr>
          <a:xfrm>
            <a:off x="3547872" y="5806440"/>
            <a:ext cx="1883664" cy="365760"/>
          </a:xfrm>
          <a:prstGeom prst="roundRect">
            <a:avLst>
              <a:gd name="adj" fmla="val 50000"/>
            </a:avLst>
          </a:prstGeom>
          <a:solidFill>
            <a:srgbClr val="E7E2D0"/>
          </a:solidFill>
          <a:ln/>
        </p:spPr>
      </p:sp>
      <p:sp>
        <p:nvSpPr>
          <p:cNvPr id="38" name="Text 36"/>
          <p:cNvSpPr/>
          <p:nvPr/>
        </p:nvSpPr>
        <p:spPr>
          <a:xfrm>
            <a:off x="3547872" y="5806440"/>
            <a:ext cx="1883664" cy="365760"/>
          </a:xfrm>
          <a:prstGeom prst="rect">
            <a:avLst/>
          </a:prstGeom>
          <a:noFill/>
          <a:ln/>
        </p:spPr>
        <p:txBody>
          <a:bodyPr wrap="square" rtlCol="0" anchor="ctr"/>
          <a:lstStyle/>
          <a:p>
            <a:pPr algn="ctr" indent="0" marL="0">
              <a:buNone/>
            </a:pPr>
            <a:r>
              <a:rPr lang="en-US" sz="1050" b="1" dirty="0">
                <a:solidFill>
                  <a:srgbClr val="14261B"/>
                </a:solidFill>
                <a:latin typeface="Calibri" pitchFamily="34" charset="0"/>
                <a:ea typeface="Calibri" pitchFamily="34" charset="-122"/>
                <a:cs typeface="Calibri" pitchFamily="34" charset="-120"/>
              </a:rPr>
              <a:t>Sanitation Workers</a:t>
            </a:r>
            <a:endParaRPr lang="en-US" sz="1050" dirty="0"/>
          </a:p>
        </p:txBody>
      </p:sp>
      <p:sp>
        <p:nvSpPr>
          <p:cNvPr id="39" name="Shape 37"/>
          <p:cNvSpPr/>
          <p:nvPr/>
        </p:nvSpPr>
        <p:spPr>
          <a:xfrm>
            <a:off x="5568696" y="5806440"/>
            <a:ext cx="1275588" cy="365760"/>
          </a:xfrm>
          <a:prstGeom prst="roundRect">
            <a:avLst>
              <a:gd name="adj" fmla="val 50000"/>
            </a:avLst>
          </a:prstGeom>
          <a:solidFill>
            <a:srgbClr val="E7E2D0"/>
          </a:solidFill>
          <a:ln/>
        </p:spPr>
      </p:sp>
      <p:sp>
        <p:nvSpPr>
          <p:cNvPr id="40" name="Text 38"/>
          <p:cNvSpPr/>
          <p:nvPr/>
        </p:nvSpPr>
        <p:spPr>
          <a:xfrm>
            <a:off x="5568696" y="5806440"/>
            <a:ext cx="1275588" cy="365760"/>
          </a:xfrm>
          <a:prstGeom prst="rect">
            <a:avLst/>
          </a:prstGeom>
          <a:noFill/>
          <a:ln/>
        </p:spPr>
        <p:txBody>
          <a:bodyPr wrap="square" rtlCol="0" anchor="ctr"/>
          <a:lstStyle/>
          <a:p>
            <a:pPr algn="ctr" indent="0" marL="0">
              <a:buNone/>
            </a:pPr>
            <a:r>
              <a:rPr lang="en-US" sz="1050" b="1" dirty="0">
                <a:solidFill>
                  <a:srgbClr val="14261B"/>
                </a:solidFill>
                <a:latin typeface="Calibri" pitchFamily="34" charset="0"/>
                <a:ea typeface="Calibri" pitchFamily="34" charset="-122"/>
                <a:cs typeface="Calibri" pitchFamily="34" charset="-120"/>
              </a:rPr>
              <a:t>Shop Owners</a:t>
            </a:r>
            <a:endParaRPr lang="en-US" sz="1050" dirty="0"/>
          </a:p>
        </p:txBody>
      </p:sp>
      <p:sp>
        <p:nvSpPr>
          <p:cNvPr id="41" name="Text 39"/>
          <p:cNvSpPr/>
          <p:nvPr/>
        </p:nvSpPr>
        <p:spPr>
          <a:xfrm>
            <a:off x="10908792" y="6400800"/>
            <a:ext cx="1005840" cy="274320"/>
          </a:xfrm>
          <a:prstGeom prst="rect">
            <a:avLst/>
          </a:prstGeom>
          <a:noFill/>
          <a:ln/>
        </p:spPr>
        <p:txBody>
          <a:bodyPr wrap="square" rtlCol="0" anchor="ctr"/>
          <a:lstStyle/>
          <a:p>
            <a:pPr algn="r" indent="0" marL="0">
              <a:buNone/>
            </a:pPr>
            <a:r>
              <a:rPr lang="en-US" sz="950" dirty="0">
                <a:solidFill>
                  <a:srgbClr val="7C8C7F"/>
                </a:solidFill>
                <a:latin typeface="Courier New" pitchFamily="34" charset="0"/>
                <a:ea typeface="Courier New" pitchFamily="34" charset="-122"/>
                <a:cs typeface="Courier New" pitchFamily="34" charset="-120"/>
              </a:rPr>
              <a:t>05 / 10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6"/>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algn="l" indent="0" marL="0">
              <a:buNone/>
            </a:pPr>
            <a:r>
              <a:rPr lang="en-US" sz="1100" b="1" spc="200" kern="0" dirty="0">
                <a:solidFill>
                  <a:srgbClr val="2F6B45"/>
                </a:solidFill>
                <a:latin typeface="Courier New" pitchFamily="34" charset="0"/>
                <a:ea typeface="Courier New" pitchFamily="34" charset="-122"/>
                <a:cs typeface="Courier New" pitchFamily="34" charset="-120"/>
              </a:rPr>
              <a:t>WHAT'S ALREADY TRIED</a:t>
            </a:r>
            <a:endParaRPr lang="en-US" sz="11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2800" b="1" dirty="0">
                <a:solidFill>
                  <a:srgbClr val="14261B"/>
                </a:solidFill>
                <a:latin typeface="Cambria" pitchFamily="34" charset="0"/>
                <a:ea typeface="Cambria" pitchFamily="34" charset="-122"/>
                <a:cs typeface="Cambria" pitchFamily="34" charset="-120"/>
              </a:rPr>
              <a:t>Existing Solutions &amp; the Gap</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2331720"/>
        </p:xfrm>
        <a:graphic>
          <a:graphicData uri="http://schemas.openxmlformats.org/drawingml/2006/table">
            <a:tbl>
              <a:tblPr/>
              <a:tblGrid>
                <a:gridCol w="3108960"/>
                <a:gridCol w="4206240"/>
                <a:gridCol w="3776472"/>
              </a:tblGrid>
              <a:tr h="58293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Approach</a:t>
                      </a:r>
                      <a:endParaRPr lang="en-US" sz="1250" dirty="0">
                        <a:latin typeface="Calibri" charset="0"/>
                        <a:ea typeface="Calibri" charset="0"/>
                        <a:cs typeface="Calibri" charset="0"/>
                      </a:endParaRPr>
                    </a:p>
                  </a:txBody>
                  <a:tcPr marL="127000" marR="127000" marT="101600" marB="1016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1235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Tried today</a:t>
                      </a:r>
                      <a:endParaRPr lang="en-US" sz="1250" dirty="0">
                        <a:latin typeface="Calibri" charset="0"/>
                        <a:ea typeface="Calibri" charset="0"/>
                        <a:cs typeface="Calibri" charset="0"/>
                      </a:endParaRPr>
                    </a:p>
                  </a:txBody>
                  <a:tcPr marL="127000" marR="127000" marT="101600" marB="1016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1235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Where it falls short</a:t>
                      </a:r>
                      <a:endParaRPr lang="en-US" sz="1250" dirty="0">
                        <a:latin typeface="Calibri" charset="0"/>
                        <a:ea typeface="Calibri" charset="0"/>
                        <a:cs typeface="Calibri" charset="0"/>
                      </a:endParaRPr>
                    </a:p>
                  </a:txBody>
                  <a:tcPr marL="127000" marR="127000" marT="101600" marB="1016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123524"/>
                    </a:solidFill>
                  </a:tcPr>
                </a:tc>
              </a:tr>
              <a:tr h="582930">
                <a:tc>
                  <a:txBody>
                    <a:bodyPr/>
                    <a:lstStyle/>
                    <a:p>
                      <a:pPr indent="0" marL="0">
                        <a:buNone/>
                      </a:pPr>
                      <a:r>
                        <a:rPr lang="en-US" sz="1250" dirty="0">
                          <a:solidFill>
                            <a:srgbClr val="14261B"/>
                          </a:solidFill>
                          <a:latin typeface="Calibri" pitchFamily="34" charset="0"/>
                          <a:ea typeface="Calibri" pitchFamily="34" charset="-122"/>
                          <a:cs typeface="Calibri" pitchFamily="34" charset="-120"/>
                        </a:rPr>
                        <a:t>Fixed-schedule collection</a:t>
                      </a:r>
                      <a:endParaRPr lang="en-US" sz="1250" dirty="0">
                        <a:latin typeface="Calibri" charset="0"/>
                        <a:ea typeface="Calibri" charset="0"/>
                        <a:cs typeface="Calibri" charset="0"/>
                      </a:endParaRPr>
                    </a:p>
                  </a:txBody>
                  <a:tcPr marL="127000" marR="127000" marT="101600" marB="1016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E7E2D0"/>
                    </a:solidFill>
                  </a:tcPr>
                </a:tc>
                <a:tc>
                  <a:txBody>
                    <a:bodyPr/>
                    <a:lstStyle/>
                    <a:p>
                      <a:pPr indent="0" marL="0">
                        <a:buNone/>
                      </a:pPr>
                      <a:r>
                        <a:rPr lang="en-US" sz="1250" dirty="0">
                          <a:solidFill>
                            <a:srgbClr val="14261B"/>
                          </a:solidFill>
                          <a:latin typeface="Calibri" pitchFamily="34" charset="0"/>
                          <a:ea typeface="Calibri" pitchFamily="34" charset="-122"/>
                          <a:cs typeface="Calibri" pitchFamily="34" charset="-120"/>
                        </a:rPr>
                        <a:t>Trucks visit at set times daily</a:t>
                      </a:r>
                      <a:endParaRPr lang="en-US" sz="1250" dirty="0">
                        <a:latin typeface="Calibri" charset="0"/>
                        <a:ea typeface="Calibri" charset="0"/>
                        <a:cs typeface="Calibri" charset="0"/>
                      </a:endParaRPr>
                    </a:p>
                  </a:txBody>
                  <a:tcPr marL="127000" marR="127000" marT="101600" marB="1016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E7E2D0"/>
                    </a:solidFill>
                  </a:tcPr>
                </a:tc>
                <a:tc>
                  <a:txBody>
                    <a:bodyPr/>
                    <a:lstStyle/>
                    <a:p>
                      <a:pPr indent="0" marL="0">
                        <a:buNone/>
                      </a:pPr>
                      <a:r>
                        <a:rPr lang="en-US" sz="1250" dirty="0">
                          <a:solidFill>
                            <a:srgbClr val="14261B"/>
                          </a:solidFill>
                          <a:latin typeface="Calibri" pitchFamily="34" charset="0"/>
                          <a:ea typeface="Calibri" pitchFamily="34" charset="-122"/>
                          <a:cs typeface="Calibri" pitchFamily="34" charset="-120"/>
                        </a:rPr>
                        <a:t>Ignores real fill level — over- or under-visits</a:t>
                      </a:r>
                      <a:endParaRPr lang="en-US" sz="1250" dirty="0">
                        <a:latin typeface="Calibri" charset="0"/>
                        <a:ea typeface="Calibri" charset="0"/>
                        <a:cs typeface="Calibri" charset="0"/>
                      </a:endParaRPr>
                    </a:p>
                  </a:txBody>
                  <a:tcPr marL="127000" marR="127000" marT="101600" marB="1016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E7E2D0"/>
                    </a:solidFill>
                  </a:tcPr>
                </a:tc>
              </a:tr>
              <a:tr h="582930">
                <a:tc>
                  <a:txBody>
                    <a:bodyPr/>
                    <a:lstStyle/>
                    <a:p>
                      <a:pPr indent="0" marL="0">
                        <a:buNone/>
                      </a:pPr>
                      <a:r>
                        <a:rPr lang="en-US" sz="1250" dirty="0">
                          <a:solidFill>
                            <a:srgbClr val="14261B"/>
                          </a:solidFill>
                          <a:latin typeface="Calibri" pitchFamily="34" charset="0"/>
                          <a:ea typeface="Calibri" pitchFamily="34" charset="-122"/>
                          <a:cs typeface="Calibri" pitchFamily="34" charset="-120"/>
                        </a:rPr>
                        <a:t>Manual inspection rounds</a:t>
                      </a:r>
                      <a:endParaRPr lang="en-US" sz="1250" dirty="0">
                        <a:latin typeface="Calibri" charset="0"/>
                        <a:ea typeface="Calibri" charset="0"/>
                        <a:cs typeface="Calibri" charset="0"/>
                      </a:endParaRPr>
                    </a:p>
                  </a:txBody>
                  <a:tcPr marL="127000" marR="127000" marT="101600" marB="1016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FFFFFF"/>
                    </a:solidFill>
                  </a:tcPr>
                </a:tc>
                <a:tc>
                  <a:txBody>
                    <a:bodyPr/>
                    <a:lstStyle/>
                    <a:p>
                      <a:pPr indent="0" marL="0">
                        <a:buNone/>
                      </a:pPr>
                      <a:r>
                        <a:rPr lang="en-US" sz="1250" dirty="0">
                          <a:solidFill>
                            <a:srgbClr val="14261B"/>
                          </a:solidFill>
                          <a:latin typeface="Calibri" pitchFamily="34" charset="0"/>
                          <a:ea typeface="Calibri" pitchFamily="34" charset="-122"/>
                          <a:cs typeface="Calibri" pitchFamily="34" charset="-120"/>
                        </a:rPr>
                        <a:t>Staff physically check each bin</a:t>
                      </a:r>
                      <a:endParaRPr lang="en-US" sz="1250" dirty="0">
                        <a:latin typeface="Calibri" charset="0"/>
                        <a:ea typeface="Calibri" charset="0"/>
                        <a:cs typeface="Calibri" charset="0"/>
                      </a:endParaRPr>
                    </a:p>
                  </a:txBody>
                  <a:tcPr marL="127000" marR="127000" marT="101600" marB="1016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FFFFFF"/>
                    </a:solidFill>
                  </a:tcPr>
                </a:tc>
                <a:tc>
                  <a:txBody>
                    <a:bodyPr/>
                    <a:lstStyle/>
                    <a:p>
                      <a:pPr indent="0" marL="0">
                        <a:buNone/>
                      </a:pPr>
                      <a:r>
                        <a:rPr lang="en-US" sz="1250" dirty="0">
                          <a:solidFill>
                            <a:srgbClr val="14261B"/>
                          </a:solidFill>
                          <a:latin typeface="Calibri" pitchFamily="34" charset="0"/>
                          <a:ea typeface="Calibri" pitchFamily="34" charset="-122"/>
                          <a:cs typeface="Calibri" pitchFamily="34" charset="-120"/>
                        </a:rPr>
                        <a:t>Labour-heavy, infrequent, easy to miss</a:t>
                      </a:r>
                      <a:endParaRPr lang="en-US" sz="1250" dirty="0">
                        <a:latin typeface="Calibri" charset="0"/>
                        <a:ea typeface="Calibri" charset="0"/>
                        <a:cs typeface="Calibri" charset="0"/>
                      </a:endParaRPr>
                    </a:p>
                  </a:txBody>
                  <a:tcPr marL="127000" marR="127000" marT="101600" marB="1016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FFFFFF"/>
                    </a:solidFill>
                  </a:tcPr>
                </a:tc>
              </a:tr>
              <a:tr h="582930">
                <a:tc>
                  <a:txBody>
                    <a:bodyPr/>
                    <a:lstStyle/>
                    <a:p>
                      <a:pPr indent="0" marL="0">
                        <a:buNone/>
                      </a:pPr>
                      <a:r>
                        <a:rPr lang="en-US" sz="1250" dirty="0">
                          <a:solidFill>
                            <a:srgbClr val="14261B"/>
                          </a:solidFill>
                          <a:latin typeface="Calibri" pitchFamily="34" charset="0"/>
                          <a:ea typeface="Calibri" pitchFamily="34" charset="-122"/>
                          <a:cs typeface="Calibri" pitchFamily="34" charset="-120"/>
                        </a:rPr>
                        <a:t>Public complaint reporting</a:t>
                      </a:r>
                      <a:endParaRPr lang="en-US" sz="1250" dirty="0">
                        <a:latin typeface="Calibri" charset="0"/>
                        <a:ea typeface="Calibri" charset="0"/>
                        <a:cs typeface="Calibri" charset="0"/>
                      </a:endParaRPr>
                    </a:p>
                  </a:txBody>
                  <a:tcPr marL="127000" marR="127000" marT="101600" marB="1016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E7E2D0"/>
                    </a:solidFill>
                  </a:tcPr>
                </a:tc>
                <a:tc>
                  <a:txBody>
                    <a:bodyPr/>
                    <a:lstStyle/>
                    <a:p>
                      <a:pPr indent="0" marL="0">
                        <a:buNone/>
                      </a:pPr>
                      <a:r>
                        <a:rPr lang="en-US" sz="1250" dirty="0">
                          <a:solidFill>
                            <a:srgbClr val="14261B"/>
                          </a:solidFill>
                          <a:latin typeface="Calibri" pitchFamily="34" charset="0"/>
                          <a:ea typeface="Calibri" pitchFamily="34" charset="-122"/>
                          <a:cs typeface="Calibri" pitchFamily="34" charset="-120"/>
                        </a:rPr>
                        <a:t>Residents call or report overflow</a:t>
                      </a:r>
                      <a:endParaRPr lang="en-US" sz="1250" dirty="0">
                        <a:latin typeface="Calibri" charset="0"/>
                        <a:ea typeface="Calibri" charset="0"/>
                        <a:cs typeface="Calibri" charset="0"/>
                      </a:endParaRPr>
                    </a:p>
                  </a:txBody>
                  <a:tcPr marL="127000" marR="127000" marT="101600" marB="1016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E7E2D0"/>
                    </a:solidFill>
                  </a:tcPr>
                </a:tc>
                <a:tc>
                  <a:txBody>
                    <a:bodyPr/>
                    <a:lstStyle/>
                    <a:p>
                      <a:pPr indent="0" marL="0">
                        <a:buNone/>
                      </a:pPr>
                      <a:r>
                        <a:rPr lang="en-US" sz="1250" dirty="0">
                          <a:solidFill>
                            <a:srgbClr val="14261B"/>
                          </a:solidFill>
                          <a:latin typeface="Calibri" pitchFamily="34" charset="0"/>
                          <a:ea typeface="Calibri" pitchFamily="34" charset="-122"/>
                          <a:cs typeface="Calibri" pitchFamily="34" charset="-120"/>
                        </a:rPr>
                        <a:t>Reactive only — action lags the mess</a:t>
                      </a:r>
                      <a:endParaRPr lang="en-US" sz="1250" dirty="0">
                        <a:latin typeface="Calibri" charset="0"/>
                        <a:ea typeface="Calibri" charset="0"/>
                        <a:cs typeface="Calibri" charset="0"/>
                      </a:endParaRPr>
                    </a:p>
                  </a:txBody>
                  <a:tcPr marL="127000" marR="127000" marT="101600" marB="1016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E7E2D0"/>
                    </a:solidFill>
                  </a:tcPr>
                </a:tc>
              </a:tr>
            </a:tbl>
          </a:graphicData>
        </a:graphic>
      </p:graphicFrame>
      <p:sp>
        <p:nvSpPr>
          <p:cNvPr id="5" name="Shape 2"/>
          <p:cNvSpPr/>
          <p:nvPr/>
        </p:nvSpPr>
        <p:spPr>
          <a:xfrm>
            <a:off x="548640" y="4114800"/>
            <a:ext cx="11091672" cy="1371600"/>
          </a:xfrm>
          <a:prstGeom prst="roundRect">
            <a:avLst>
              <a:gd name="adj" fmla="val 4000"/>
            </a:avLst>
          </a:prstGeom>
          <a:solidFill>
            <a:srgbClr val="C8E45C"/>
          </a:solidFill>
          <a:ln/>
        </p:spPr>
      </p:sp>
      <p:sp>
        <p:nvSpPr>
          <p:cNvPr id="6" name="Text 3"/>
          <p:cNvSpPr/>
          <p:nvPr/>
        </p:nvSpPr>
        <p:spPr>
          <a:xfrm>
            <a:off x="822960" y="4251960"/>
            <a:ext cx="10561320" cy="1097280"/>
          </a:xfrm>
          <a:prstGeom prst="rect">
            <a:avLst/>
          </a:prstGeom>
          <a:noFill/>
          <a:ln/>
        </p:spPr>
        <p:txBody>
          <a:bodyPr wrap="square" rtlCol="0" anchor="t"/>
          <a:lstStyle/>
          <a:p>
            <a:pPr indent="0" marL="0">
              <a:lnSpc>
                <a:spcPts val="2000"/>
              </a:lnSpc>
              <a:buNone/>
            </a:pPr>
            <a:r>
              <a:rPr lang="en-US" sz="1000" b="1" spc="100" kern="0" dirty="0">
                <a:solidFill>
                  <a:srgbClr val="123524"/>
                </a:solidFill>
                <a:latin typeface="Courier New" pitchFamily="34" charset="0"/>
                <a:ea typeface="Courier New" pitchFamily="34" charset="-122"/>
                <a:cs typeface="Courier New" pitchFamily="34" charset="-120"/>
              </a:rPr>
              <a:t>THE OPENING   </a:t>
            </a:r>
            <a:endParaRPr lang="en-US" sz="1000" dirty="0"/>
          </a:p>
          <a:p>
            <a:pPr indent="0" marL="0">
              <a:lnSpc>
                <a:spcPts val="2000"/>
              </a:lnSpc>
              <a:buNone/>
            </a:pPr>
            <a:r>
              <a:rPr lang="en-US" sz="1500" b="1" dirty="0">
                <a:solidFill>
                  <a:srgbClr val="123524"/>
                </a:solidFill>
                <a:latin typeface="Calibri" pitchFamily="34" charset="0"/>
                <a:ea typeface="Calibri" pitchFamily="34" charset="-122"/>
                <a:cs typeface="Calibri" pitchFamily="34" charset="-120"/>
              </a:rPr>
              <a:t>No low-cost system gives real-time, automatic visibility into fill level — that's the gap a simple sensor-and-alert loop can close.</a:t>
            </a:r>
            <a:endParaRPr lang="en-US" sz="1000" dirty="0"/>
          </a:p>
        </p:txBody>
      </p:sp>
      <p:sp>
        <p:nvSpPr>
          <p:cNvPr id="7" name="Text 4"/>
          <p:cNvSpPr/>
          <p:nvPr/>
        </p:nvSpPr>
        <p:spPr>
          <a:xfrm>
            <a:off x="548640" y="6400800"/>
            <a:ext cx="4572000" cy="274320"/>
          </a:xfrm>
          <a:prstGeom prst="rect">
            <a:avLst/>
          </a:prstGeom>
          <a:noFill/>
          <a:ln/>
        </p:spPr>
        <p:txBody>
          <a:bodyPr wrap="square" rtlCol="0" anchor="ctr"/>
          <a:lstStyle/>
          <a:p>
            <a:pPr indent="0" marL="0">
              <a:buNone/>
            </a:pPr>
            <a:r>
              <a:rPr lang="en-US" sz="950" spc="100" kern="0" dirty="0">
                <a:solidFill>
                  <a:srgbClr val="7C8C7F"/>
                </a:solidFill>
                <a:latin typeface="Courier New" pitchFamily="34" charset="0"/>
                <a:ea typeface="Courier New" pitchFamily="34" charset="-122"/>
                <a:cs typeface="Courier New" pitchFamily="34" charset="-120"/>
              </a:rPr>
              <a:t>SMART DUSTBIN — FIELD PROJECT</a:t>
            </a:r>
            <a:endParaRPr lang="en-US" sz="950" dirty="0"/>
          </a:p>
        </p:txBody>
      </p:sp>
      <p:sp>
        <p:nvSpPr>
          <p:cNvPr id="8" name="Text 5"/>
          <p:cNvSpPr/>
          <p:nvPr/>
        </p:nvSpPr>
        <p:spPr>
          <a:xfrm>
            <a:off x="10908792" y="6400800"/>
            <a:ext cx="1005840" cy="274320"/>
          </a:xfrm>
          <a:prstGeom prst="rect">
            <a:avLst/>
          </a:prstGeom>
          <a:noFill/>
          <a:ln/>
        </p:spPr>
        <p:txBody>
          <a:bodyPr wrap="square" rtlCol="0" anchor="ctr"/>
          <a:lstStyle/>
          <a:p>
            <a:pPr algn="r" indent="0" marL="0">
              <a:buNone/>
            </a:pPr>
            <a:r>
              <a:rPr lang="en-US" sz="950" dirty="0">
                <a:solidFill>
                  <a:srgbClr val="7C8C7F"/>
                </a:solidFill>
                <a:latin typeface="Courier New" pitchFamily="34" charset="0"/>
                <a:ea typeface="Courier New" pitchFamily="34" charset="-122"/>
                <a:cs typeface="Courier New" pitchFamily="34" charset="-120"/>
              </a:rPr>
              <a:t>06 / 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3524"/>
        </a:solidFill>
      </p:bgPr>
    </p:bg>
    <p:spTree>
      <p:nvGrpSpPr>
        <p:cNvPr id="1" name=""/>
        <p:cNvGrpSpPr/>
        <p:nvPr/>
      </p:nvGrpSpPr>
      <p:grpSpPr>
        <a:xfrm>
          <a:off x="0" y="0"/>
          <a:ext cx="0" cy="0"/>
          <a:chOff x="0" y="0"/>
          <a:chExt cx="0" cy="0"/>
        </a:xfrm>
      </p:grpSpPr>
      <p:sp>
        <p:nvSpPr>
          <p:cNvPr id="2" name="Shape 0"/>
          <p:cNvSpPr/>
          <p:nvPr/>
        </p:nvSpPr>
        <p:spPr>
          <a:xfrm>
            <a:off x="10722254" y="636422"/>
            <a:ext cx="921715" cy="921715"/>
          </a:xfrm>
          <a:prstGeom prst="ellipse">
            <a:avLst/>
          </a:prstGeom>
          <a:solidFill>
            <a:srgbClr val="FFFFFF">
              <a:alpha val="0"/>
            </a:srgbClr>
          </a:solidFill>
          <a:ln w="12700">
            <a:solidFill>
              <a:srgbClr val="C8E45C">
                <a:alpha val="45000"/>
              </a:srgbClr>
            </a:solidFill>
            <a:prstDash val="solid"/>
          </a:ln>
        </p:spPr>
      </p:sp>
      <p:sp>
        <p:nvSpPr>
          <p:cNvPr id="3" name="Shape 1"/>
          <p:cNvSpPr/>
          <p:nvPr/>
        </p:nvSpPr>
        <p:spPr>
          <a:xfrm>
            <a:off x="10919765" y="833933"/>
            <a:ext cx="526694" cy="526694"/>
          </a:xfrm>
          <a:prstGeom prst="ellipse">
            <a:avLst/>
          </a:prstGeom>
          <a:solidFill>
            <a:srgbClr val="FFFFFF">
              <a:alpha val="0"/>
            </a:srgbClr>
          </a:solidFill>
          <a:ln w="15875">
            <a:solidFill>
              <a:srgbClr val="C8E45C">
                <a:alpha val="70000"/>
              </a:srgbClr>
            </a:solidFill>
            <a:prstDash val="solid"/>
          </a:ln>
        </p:spPr>
      </p:sp>
      <p:sp>
        <p:nvSpPr>
          <p:cNvPr id="4" name="Shape 2"/>
          <p:cNvSpPr/>
          <p:nvPr/>
        </p:nvSpPr>
        <p:spPr>
          <a:xfrm>
            <a:off x="11106302" y="1020470"/>
            <a:ext cx="153619" cy="153619"/>
          </a:xfrm>
          <a:prstGeom prst="ellipse">
            <a:avLst/>
          </a:prstGeom>
          <a:solidFill>
            <a:srgbClr val="C8E45C"/>
          </a:solidFill>
          <a:ln/>
        </p:spPr>
      </p:sp>
      <p:sp>
        <p:nvSpPr>
          <p:cNvPr id="5" name="Text 3"/>
          <p:cNvSpPr/>
          <p:nvPr/>
        </p:nvSpPr>
        <p:spPr>
          <a:xfrm>
            <a:off x="548640" y="384048"/>
            <a:ext cx="7315200" cy="274320"/>
          </a:xfrm>
          <a:prstGeom prst="rect">
            <a:avLst/>
          </a:prstGeom>
          <a:noFill/>
          <a:ln/>
        </p:spPr>
        <p:txBody>
          <a:bodyPr wrap="square" rtlCol="0" anchor="ctr"/>
          <a:lstStyle/>
          <a:p>
            <a:pPr algn="l" indent="0" marL="0">
              <a:buNone/>
            </a:pPr>
            <a:r>
              <a:rPr lang="en-US" sz="1100" b="1" spc="200" kern="0" dirty="0">
                <a:solidFill>
                  <a:srgbClr val="C8E45C"/>
                </a:solidFill>
                <a:latin typeface="Courier New" pitchFamily="34" charset="0"/>
                <a:ea typeface="Courier New" pitchFamily="34" charset="-122"/>
                <a:cs typeface="Courier New" pitchFamily="34" charset="-120"/>
              </a:rPr>
              <a:t>THE SHORTLISTED IDEA</a:t>
            </a:r>
            <a:endParaRPr lang="en-US" sz="1100" dirty="0"/>
          </a:p>
        </p:txBody>
      </p:sp>
      <p:sp>
        <p:nvSpPr>
          <p:cNvPr id="6" name="Text 4"/>
          <p:cNvSpPr/>
          <p:nvPr/>
        </p:nvSpPr>
        <p:spPr>
          <a:xfrm>
            <a:off x="548640" y="896112"/>
            <a:ext cx="11064240" cy="777240"/>
          </a:xfrm>
          <a:prstGeom prst="rect">
            <a:avLst/>
          </a:prstGeom>
          <a:noFill/>
          <a:ln/>
        </p:spPr>
        <p:txBody>
          <a:bodyPr wrap="square" rtlCol="0" anchor="ctr"/>
          <a:lstStyle/>
          <a:p>
            <a:pPr indent="0" marL="0">
              <a:lnSpc>
                <a:spcPts val="2700"/>
              </a:lnSpc>
              <a:buNone/>
            </a:pPr>
            <a:r>
              <a:rPr lang="en-US" sz="2300" b="1" dirty="0">
                <a:solidFill>
                  <a:srgbClr val="FFFFFF"/>
                </a:solidFill>
                <a:latin typeface="Cambria" pitchFamily="34" charset="0"/>
                <a:ea typeface="Cambria" pitchFamily="34" charset="-122"/>
                <a:cs typeface="Cambria" pitchFamily="34" charset="-120"/>
              </a:rPr>
              <a:t>Smart Dustbin: Fill Sensing + Vision-Based Overflow Detection</a:t>
            </a:r>
            <a:endParaRPr lang="en-US" sz="2300" dirty="0"/>
          </a:p>
        </p:txBody>
      </p:sp>
      <p:sp>
        <p:nvSpPr>
          <p:cNvPr id="7" name="Shape 5"/>
          <p:cNvSpPr/>
          <p:nvPr/>
        </p:nvSpPr>
        <p:spPr>
          <a:xfrm>
            <a:off x="548640" y="1783080"/>
            <a:ext cx="3520440" cy="2331720"/>
          </a:xfrm>
          <a:prstGeom prst="roundRect">
            <a:avLst>
              <a:gd name="adj" fmla="val 2353"/>
            </a:avLst>
          </a:prstGeom>
          <a:solidFill>
            <a:srgbClr val="0C2A1A"/>
          </a:solidFill>
          <a:ln w="12700">
            <a:solidFill>
              <a:srgbClr val="2F6B45"/>
            </a:solidFill>
            <a:prstDash val="solid"/>
          </a:ln>
        </p:spPr>
      </p:sp>
      <p:sp>
        <p:nvSpPr>
          <p:cNvPr id="8" name="Text 6"/>
          <p:cNvSpPr/>
          <p:nvPr/>
        </p:nvSpPr>
        <p:spPr>
          <a:xfrm>
            <a:off x="749808" y="1929384"/>
            <a:ext cx="3118104" cy="274320"/>
          </a:xfrm>
          <a:prstGeom prst="rect">
            <a:avLst/>
          </a:prstGeom>
          <a:noFill/>
          <a:ln/>
        </p:spPr>
        <p:txBody>
          <a:bodyPr wrap="square" rtlCol="0" anchor="ctr"/>
          <a:lstStyle/>
          <a:p>
            <a:pPr indent="0" marL="0">
              <a:buNone/>
            </a:pPr>
            <a:r>
              <a:rPr lang="en-US" sz="900" b="1" spc="100" kern="0" dirty="0">
                <a:solidFill>
                  <a:srgbClr val="C8E45C"/>
                </a:solidFill>
                <a:latin typeface="Courier New" pitchFamily="34" charset="0"/>
                <a:ea typeface="Courier New" pitchFamily="34" charset="-122"/>
                <a:cs typeface="Courier New" pitchFamily="34" charset="-120"/>
              </a:rPr>
              <a:t>AI / SENSING TECHNIQUE</a:t>
            </a:r>
            <a:endParaRPr lang="en-US" sz="900" dirty="0"/>
          </a:p>
        </p:txBody>
      </p:sp>
      <p:sp>
        <p:nvSpPr>
          <p:cNvPr id="9" name="Text 7"/>
          <p:cNvSpPr/>
          <p:nvPr/>
        </p:nvSpPr>
        <p:spPr>
          <a:xfrm>
            <a:off x="749808" y="2221992"/>
            <a:ext cx="3118104" cy="1234440"/>
          </a:xfrm>
          <a:prstGeom prst="rect">
            <a:avLst/>
          </a:prstGeom>
          <a:noFill/>
          <a:ln/>
        </p:spPr>
        <p:txBody>
          <a:bodyPr wrap="square" rtlCol="0" anchor="ctr"/>
          <a:lstStyle/>
          <a:p>
            <a:pPr indent="0" marL="0">
              <a:lnSpc>
                <a:spcPts val="1550"/>
              </a:lnSpc>
              <a:buNone/>
            </a:pPr>
            <a:r>
              <a:rPr lang="en-US" sz="1150" dirty="0">
                <a:solidFill>
                  <a:srgbClr val="E7E2D0"/>
                </a:solidFill>
                <a:latin typeface="Calibri" pitchFamily="34" charset="0"/>
                <a:ea typeface="Calibri" pitchFamily="34" charset="-122"/>
                <a:cs typeface="Calibri" pitchFamily="34" charset="-120"/>
              </a:rPr>
              <a:t>An ultrasonic sensor tracks fill %. A camera + object-detection model (trained on labelled overflow images) visually confirms spillage around the bin.</a:t>
            </a:r>
            <a:endParaRPr lang="en-US" sz="1150" dirty="0"/>
          </a:p>
        </p:txBody>
      </p:sp>
      <p:sp>
        <p:nvSpPr>
          <p:cNvPr id="10" name="Shape 8"/>
          <p:cNvSpPr/>
          <p:nvPr/>
        </p:nvSpPr>
        <p:spPr>
          <a:xfrm>
            <a:off x="749808" y="3520440"/>
            <a:ext cx="3118104" cy="0"/>
          </a:xfrm>
          <a:prstGeom prst="line">
            <a:avLst/>
          </a:prstGeom>
          <a:noFill/>
          <a:ln w="9525">
            <a:solidFill>
              <a:srgbClr val="2F6B45"/>
            </a:solidFill>
            <a:prstDash val="solid"/>
          </a:ln>
        </p:spPr>
      </p:sp>
      <p:sp>
        <p:nvSpPr>
          <p:cNvPr id="11" name="Text 9"/>
          <p:cNvSpPr/>
          <p:nvPr/>
        </p:nvSpPr>
        <p:spPr>
          <a:xfrm>
            <a:off x="749808" y="3611880"/>
            <a:ext cx="3118104" cy="228600"/>
          </a:xfrm>
          <a:prstGeom prst="rect">
            <a:avLst/>
          </a:prstGeom>
          <a:noFill/>
          <a:ln/>
        </p:spPr>
        <p:txBody>
          <a:bodyPr wrap="square" rtlCol="0" anchor="ctr"/>
          <a:lstStyle/>
          <a:p>
            <a:pPr indent="0" marL="0">
              <a:buNone/>
            </a:pPr>
            <a:r>
              <a:rPr lang="en-US" sz="900" b="1" spc="100" kern="0" dirty="0">
                <a:solidFill>
                  <a:srgbClr val="C8E45C"/>
                </a:solidFill>
                <a:latin typeface="Courier New" pitchFamily="34" charset="0"/>
                <a:ea typeface="Courier New" pitchFamily="34" charset="-122"/>
                <a:cs typeface="Courier New" pitchFamily="34" charset="-120"/>
              </a:rPr>
              <a:t>HARDWARE</a:t>
            </a:r>
            <a:endParaRPr lang="en-US" sz="900" dirty="0"/>
          </a:p>
        </p:txBody>
      </p:sp>
      <p:sp>
        <p:nvSpPr>
          <p:cNvPr id="12" name="Text 10"/>
          <p:cNvSpPr/>
          <p:nvPr/>
        </p:nvSpPr>
        <p:spPr>
          <a:xfrm>
            <a:off x="749808" y="3840480"/>
            <a:ext cx="3118104" cy="274320"/>
          </a:xfrm>
          <a:prstGeom prst="rect">
            <a:avLst/>
          </a:prstGeom>
          <a:noFill/>
          <a:ln/>
        </p:spPr>
        <p:txBody>
          <a:bodyPr wrap="square" rtlCol="0" anchor="ctr"/>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Ultrasonic · Camera · ESP32 · Wi-Fi/GSM</a:t>
            </a:r>
            <a:endParaRPr lang="en-US" sz="1050" dirty="0"/>
          </a:p>
        </p:txBody>
      </p:sp>
      <p:sp>
        <p:nvSpPr>
          <p:cNvPr id="13" name="Shape 11"/>
          <p:cNvSpPr/>
          <p:nvPr/>
        </p:nvSpPr>
        <p:spPr>
          <a:xfrm>
            <a:off x="4270248" y="1783080"/>
            <a:ext cx="3520440" cy="2331720"/>
          </a:xfrm>
          <a:prstGeom prst="roundRect">
            <a:avLst>
              <a:gd name="adj" fmla="val 2353"/>
            </a:avLst>
          </a:prstGeom>
          <a:solidFill>
            <a:srgbClr val="FFFFFF"/>
          </a:solidFill>
          <a:ln/>
        </p:spPr>
      </p:sp>
      <p:pic>
        <p:nvPicPr>
          <p:cNvPr id="14" name="Image 0" descr="/home/claude/deck/user_img2.png">    </p:cNvPr>
          <p:cNvPicPr>
            <a:picLocks noChangeAspect="1"/>
          </p:cNvPicPr>
          <p:nvPr/>
        </p:nvPicPr>
        <p:blipFill>
          <a:blip r:embed="rId1"/>
          <a:srcRect l="0" r="0" t="0" b="0"/>
          <a:stretch/>
        </p:blipFill>
        <p:spPr>
          <a:xfrm>
            <a:off x="4434840" y="1947672"/>
            <a:ext cx="3191256" cy="2002536"/>
          </a:xfrm>
          <a:prstGeom prst="rect">
            <a:avLst/>
          </a:prstGeom>
        </p:spPr>
      </p:pic>
      <p:sp>
        <p:nvSpPr>
          <p:cNvPr id="15" name="Shape 12"/>
          <p:cNvSpPr/>
          <p:nvPr/>
        </p:nvSpPr>
        <p:spPr>
          <a:xfrm>
            <a:off x="7991856" y="1783080"/>
            <a:ext cx="3520440" cy="2331720"/>
          </a:xfrm>
          <a:prstGeom prst="roundRect">
            <a:avLst>
              <a:gd name="adj" fmla="val 2353"/>
            </a:avLst>
          </a:prstGeom>
          <a:solidFill>
            <a:srgbClr val="C8E45C"/>
          </a:solidFill>
          <a:ln/>
        </p:spPr>
      </p:sp>
      <p:sp>
        <p:nvSpPr>
          <p:cNvPr id="16" name="Text 13"/>
          <p:cNvSpPr/>
          <p:nvPr/>
        </p:nvSpPr>
        <p:spPr>
          <a:xfrm>
            <a:off x="8193024" y="1929384"/>
            <a:ext cx="3118104" cy="274320"/>
          </a:xfrm>
          <a:prstGeom prst="rect">
            <a:avLst/>
          </a:prstGeom>
          <a:noFill/>
          <a:ln/>
        </p:spPr>
        <p:txBody>
          <a:bodyPr wrap="square" rtlCol="0" anchor="ctr"/>
          <a:lstStyle/>
          <a:p>
            <a:pPr indent="0" marL="0">
              <a:buNone/>
            </a:pPr>
            <a:r>
              <a:rPr lang="en-US" sz="850" b="1" spc="100" kern="0" dirty="0">
                <a:solidFill>
                  <a:srgbClr val="123524"/>
                </a:solidFill>
                <a:latin typeface="Courier New" pitchFamily="34" charset="0"/>
                <a:ea typeface="Courier New" pitchFamily="34" charset="-122"/>
                <a:cs typeface="Courier New" pitchFamily="34" charset="-120"/>
              </a:rPr>
              <a:t>WHY THIS COMBINATION</a:t>
            </a:r>
            <a:endParaRPr lang="en-US" sz="850" dirty="0"/>
          </a:p>
        </p:txBody>
      </p:sp>
      <p:sp>
        <p:nvSpPr>
          <p:cNvPr id="17" name="Shape 14"/>
          <p:cNvSpPr/>
          <p:nvPr/>
        </p:nvSpPr>
        <p:spPr>
          <a:xfrm>
            <a:off x="8193024" y="2377440"/>
            <a:ext cx="100584" cy="100584"/>
          </a:xfrm>
          <a:prstGeom prst="ellipse">
            <a:avLst/>
          </a:prstGeom>
          <a:solidFill>
            <a:srgbClr val="123524"/>
          </a:solidFill>
          <a:ln/>
        </p:spPr>
      </p:sp>
      <p:sp>
        <p:nvSpPr>
          <p:cNvPr id="18" name="Text 15"/>
          <p:cNvSpPr/>
          <p:nvPr/>
        </p:nvSpPr>
        <p:spPr>
          <a:xfrm>
            <a:off x="8394192" y="2221992"/>
            <a:ext cx="2916936" cy="457200"/>
          </a:xfrm>
          <a:prstGeom prst="rect">
            <a:avLst/>
          </a:prstGeom>
          <a:noFill/>
          <a:ln/>
        </p:spPr>
        <p:txBody>
          <a:bodyPr wrap="square" rtlCol="0" anchor="ctr"/>
          <a:lstStyle/>
          <a:p>
            <a:pPr indent="0" marL="0">
              <a:lnSpc>
                <a:spcPts val="1400"/>
              </a:lnSpc>
              <a:buNone/>
            </a:pPr>
            <a:r>
              <a:rPr lang="en-US" sz="1150" b="1" dirty="0">
                <a:solidFill>
                  <a:srgbClr val="123524"/>
                </a:solidFill>
                <a:latin typeface="Calibri" pitchFamily="34" charset="0"/>
                <a:ea typeface="Calibri" pitchFamily="34" charset="-122"/>
                <a:cs typeface="Calibri" pitchFamily="34" charset="-120"/>
              </a:rPr>
              <a:t>Cheaper than a camera-only rig</a:t>
            </a:r>
            <a:endParaRPr lang="en-US" sz="1150" dirty="0"/>
          </a:p>
        </p:txBody>
      </p:sp>
      <p:sp>
        <p:nvSpPr>
          <p:cNvPr id="19" name="Shape 16"/>
          <p:cNvSpPr/>
          <p:nvPr/>
        </p:nvSpPr>
        <p:spPr>
          <a:xfrm>
            <a:off x="8193024" y="2944368"/>
            <a:ext cx="100584" cy="100584"/>
          </a:xfrm>
          <a:prstGeom prst="ellipse">
            <a:avLst/>
          </a:prstGeom>
          <a:solidFill>
            <a:srgbClr val="123524"/>
          </a:solidFill>
          <a:ln/>
        </p:spPr>
      </p:sp>
      <p:sp>
        <p:nvSpPr>
          <p:cNvPr id="20" name="Text 17"/>
          <p:cNvSpPr/>
          <p:nvPr/>
        </p:nvSpPr>
        <p:spPr>
          <a:xfrm>
            <a:off x="8394192" y="2788920"/>
            <a:ext cx="2916936" cy="457200"/>
          </a:xfrm>
          <a:prstGeom prst="rect">
            <a:avLst/>
          </a:prstGeom>
          <a:noFill/>
          <a:ln/>
        </p:spPr>
        <p:txBody>
          <a:bodyPr wrap="square" rtlCol="0" anchor="ctr"/>
          <a:lstStyle/>
          <a:p>
            <a:pPr indent="0" marL="0">
              <a:lnSpc>
                <a:spcPts val="1400"/>
              </a:lnSpc>
              <a:buNone/>
            </a:pPr>
            <a:r>
              <a:rPr lang="en-US" sz="1150" b="1" dirty="0">
                <a:solidFill>
                  <a:srgbClr val="123524"/>
                </a:solidFill>
                <a:latin typeface="Calibri" pitchFamily="34" charset="0"/>
                <a:ea typeface="Calibri" pitchFamily="34" charset="-122"/>
                <a:cs typeface="Calibri" pitchFamily="34" charset="-120"/>
              </a:rPr>
              <a:t>Works in low light too</a:t>
            </a:r>
            <a:endParaRPr lang="en-US" sz="1150" dirty="0"/>
          </a:p>
        </p:txBody>
      </p:sp>
      <p:sp>
        <p:nvSpPr>
          <p:cNvPr id="21" name="Shape 18"/>
          <p:cNvSpPr/>
          <p:nvPr/>
        </p:nvSpPr>
        <p:spPr>
          <a:xfrm>
            <a:off x="8193024" y="3511296"/>
            <a:ext cx="100584" cy="100584"/>
          </a:xfrm>
          <a:prstGeom prst="ellipse">
            <a:avLst/>
          </a:prstGeom>
          <a:solidFill>
            <a:srgbClr val="123524"/>
          </a:solidFill>
          <a:ln/>
        </p:spPr>
      </p:sp>
      <p:sp>
        <p:nvSpPr>
          <p:cNvPr id="22" name="Text 19"/>
          <p:cNvSpPr/>
          <p:nvPr/>
        </p:nvSpPr>
        <p:spPr>
          <a:xfrm>
            <a:off x="8394192" y="3355848"/>
            <a:ext cx="2916936" cy="457200"/>
          </a:xfrm>
          <a:prstGeom prst="rect">
            <a:avLst/>
          </a:prstGeom>
          <a:noFill/>
          <a:ln/>
        </p:spPr>
        <p:txBody>
          <a:bodyPr wrap="square" rtlCol="0" anchor="ctr"/>
          <a:lstStyle/>
          <a:p>
            <a:pPr indent="0" marL="0">
              <a:lnSpc>
                <a:spcPts val="1400"/>
              </a:lnSpc>
              <a:buNone/>
            </a:pPr>
            <a:r>
              <a:rPr lang="en-US" sz="1150" b="1" dirty="0">
                <a:solidFill>
                  <a:srgbClr val="123524"/>
                </a:solidFill>
                <a:latin typeface="Calibri" pitchFamily="34" charset="0"/>
                <a:ea typeface="Calibri" pitchFamily="34" charset="-122"/>
                <a:cs typeface="Calibri" pitchFamily="34" charset="-120"/>
              </a:rPr>
              <a:t>Vision model verifies the alert</a:t>
            </a:r>
            <a:endParaRPr lang="en-US" sz="1150" dirty="0"/>
          </a:p>
        </p:txBody>
      </p:sp>
      <p:sp>
        <p:nvSpPr>
          <p:cNvPr id="23" name="Shape 20"/>
          <p:cNvSpPr/>
          <p:nvPr/>
        </p:nvSpPr>
        <p:spPr>
          <a:xfrm>
            <a:off x="548640" y="4370832"/>
            <a:ext cx="11091672" cy="1984248"/>
          </a:xfrm>
          <a:prstGeom prst="roundRect">
            <a:avLst>
              <a:gd name="adj" fmla="val 2765"/>
            </a:avLst>
          </a:prstGeom>
          <a:solidFill>
            <a:srgbClr val="E7E2D0"/>
          </a:solidFill>
          <a:ln/>
        </p:spPr>
      </p:sp>
      <p:pic>
        <p:nvPicPr>
          <p:cNvPr id="24" name="Image 1" descr="/home/claude/deck/user_img3.png">    </p:cNvPr>
          <p:cNvPicPr>
            <a:picLocks noChangeAspect="1"/>
          </p:cNvPicPr>
          <p:nvPr/>
        </p:nvPicPr>
        <p:blipFill>
          <a:blip r:embed="rId2"/>
          <a:srcRect l="0" r="0" t="0" b="0"/>
          <a:stretch/>
        </p:blipFill>
        <p:spPr>
          <a:xfrm>
            <a:off x="713232" y="4507992"/>
            <a:ext cx="1709928" cy="1709928"/>
          </a:xfrm>
          <a:prstGeom prst="rect">
            <a:avLst/>
          </a:prstGeom>
        </p:spPr>
      </p:pic>
      <p:sp>
        <p:nvSpPr>
          <p:cNvPr id="25" name="Text 21"/>
          <p:cNvSpPr/>
          <p:nvPr/>
        </p:nvSpPr>
        <p:spPr>
          <a:xfrm>
            <a:off x="2697480" y="4553712"/>
            <a:ext cx="8741664" cy="1618488"/>
          </a:xfrm>
          <a:prstGeom prst="rect">
            <a:avLst/>
          </a:prstGeom>
          <a:noFill/>
          <a:ln/>
        </p:spPr>
        <p:txBody>
          <a:bodyPr wrap="square" rtlCol="0" anchor="t"/>
          <a:lstStyle/>
          <a:p>
            <a:pPr indent="0" marL="0">
              <a:lnSpc>
                <a:spcPts val="1600"/>
              </a:lnSpc>
              <a:buNone/>
            </a:pPr>
            <a:r>
              <a:rPr lang="en-US" sz="950" b="1" spc="100" kern="0" dirty="0">
                <a:solidFill>
                  <a:srgbClr val="2F6B45"/>
                </a:solidFill>
                <a:latin typeface="Courier New" pitchFamily="34" charset="0"/>
                <a:ea typeface="Courier New" pitchFamily="34" charset="-122"/>
                <a:cs typeface="Courier New" pitchFamily="34" charset="-120"/>
              </a:rPr>
              <a:t>TRAINING DATA   </a:t>
            </a:r>
            <a:endParaRPr lang="en-US" sz="950" dirty="0"/>
          </a:p>
          <a:p>
            <a:pPr indent="0" marL="0">
              <a:lnSpc>
                <a:spcPts val="1600"/>
              </a:lnSpc>
              <a:buNone/>
            </a:pPr>
            <a:r>
              <a:rPr lang="en-US" sz="1150" dirty="0">
                <a:solidFill>
                  <a:srgbClr val="14261B"/>
                </a:solidFill>
                <a:latin typeface="Calibri" pitchFamily="34" charset="0"/>
                <a:ea typeface="Calibri" pitchFamily="34" charset="-122"/>
                <a:cs typeface="Calibri" pitchFamily="34" charset="-120"/>
              </a:rPr>
              <a:t>The object-detection model is trained on labelled photos of overflowing bins — bounding boxes mark bin and spillage regions so it learns to flag overflow on sight, not just by fill height.</a:t>
            </a:r>
            <a:endParaRPr lang="en-US" sz="950" dirty="0"/>
          </a:p>
        </p:txBody>
      </p:sp>
      <p:sp>
        <p:nvSpPr>
          <p:cNvPr id="26" name="Text 22"/>
          <p:cNvSpPr/>
          <p:nvPr/>
        </p:nvSpPr>
        <p:spPr>
          <a:xfrm>
            <a:off x="10908792" y="6400800"/>
            <a:ext cx="1005840" cy="274320"/>
          </a:xfrm>
          <a:prstGeom prst="rect">
            <a:avLst/>
          </a:prstGeom>
          <a:noFill/>
          <a:ln/>
        </p:spPr>
        <p:txBody>
          <a:bodyPr wrap="square" rtlCol="0" anchor="ctr"/>
          <a:lstStyle/>
          <a:p>
            <a:pPr algn="r" indent="0" marL="0">
              <a:buNone/>
            </a:pPr>
            <a:r>
              <a:rPr lang="en-US" sz="950" dirty="0">
                <a:solidFill>
                  <a:srgbClr val="8FAF9A"/>
                </a:solidFill>
                <a:latin typeface="Courier New" pitchFamily="34" charset="0"/>
                <a:ea typeface="Courier New" pitchFamily="34" charset="-122"/>
                <a:cs typeface="Courier New" pitchFamily="34" charset="-120"/>
              </a:rPr>
              <a:t>07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6"/>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algn="l" indent="0" marL="0">
              <a:buNone/>
            </a:pPr>
            <a:r>
              <a:rPr lang="en-US" sz="1100" b="1" spc="200" kern="0" dirty="0">
                <a:solidFill>
                  <a:srgbClr val="2F6B45"/>
                </a:solidFill>
                <a:latin typeface="Courier New" pitchFamily="34" charset="0"/>
                <a:ea typeface="Courier New" pitchFamily="34" charset="-122"/>
                <a:cs typeface="Courier New" pitchFamily="34" charset="-120"/>
              </a:rPr>
              <a:t>HOW THE PIECES CONNECT</a:t>
            </a:r>
            <a:endParaRPr lang="en-US" sz="1100" dirty="0"/>
          </a:p>
        </p:txBody>
      </p:sp>
      <p:sp>
        <p:nvSpPr>
          <p:cNvPr id="3" name="Text 1"/>
          <p:cNvSpPr/>
          <p:nvPr/>
        </p:nvSpPr>
        <p:spPr>
          <a:xfrm>
            <a:off x="548640" y="658368"/>
            <a:ext cx="9144000" cy="640080"/>
          </a:xfrm>
          <a:prstGeom prst="rect">
            <a:avLst/>
          </a:prstGeom>
          <a:noFill/>
          <a:ln/>
        </p:spPr>
        <p:txBody>
          <a:bodyPr wrap="square" rtlCol="0" anchor="ctr"/>
          <a:lstStyle/>
          <a:p>
            <a:pPr indent="0" marL="0">
              <a:buNone/>
            </a:pPr>
            <a:r>
              <a:rPr lang="en-US" sz="3000" b="1" dirty="0">
                <a:solidFill>
                  <a:srgbClr val="14261B"/>
                </a:solidFill>
                <a:latin typeface="Cambria" pitchFamily="34" charset="0"/>
                <a:ea typeface="Cambria" pitchFamily="34" charset="-122"/>
                <a:cs typeface="Cambria" pitchFamily="34" charset="-120"/>
              </a:rPr>
              <a:t>System Architecture</a:t>
            </a:r>
            <a:endParaRPr lang="en-US" sz="3000" dirty="0"/>
          </a:p>
        </p:txBody>
      </p:sp>
      <p:sp>
        <p:nvSpPr>
          <p:cNvPr id="4" name="Shape 2"/>
          <p:cNvSpPr/>
          <p:nvPr/>
        </p:nvSpPr>
        <p:spPr>
          <a:xfrm>
            <a:off x="548640" y="1874520"/>
            <a:ext cx="2331720" cy="2103120"/>
          </a:xfrm>
          <a:prstGeom prst="roundRect">
            <a:avLst>
              <a:gd name="adj" fmla="val 3043"/>
            </a:avLst>
          </a:prstGeom>
          <a:solidFill>
            <a:srgbClr val="FFFFFF"/>
          </a:solidFill>
          <a:ln w="15875">
            <a:solidFill>
              <a:srgbClr val="2F6B45"/>
            </a:solidFill>
            <a:prstDash val="solid"/>
          </a:ln>
        </p:spPr>
      </p:sp>
      <p:sp>
        <p:nvSpPr>
          <p:cNvPr id="5" name="Text 3"/>
          <p:cNvSpPr/>
          <p:nvPr/>
        </p:nvSpPr>
        <p:spPr>
          <a:xfrm>
            <a:off x="713232" y="2011680"/>
            <a:ext cx="914400" cy="320040"/>
          </a:xfrm>
          <a:prstGeom prst="rect">
            <a:avLst/>
          </a:prstGeom>
          <a:noFill/>
          <a:ln/>
        </p:spPr>
        <p:txBody>
          <a:bodyPr wrap="square" rtlCol="0" anchor="ctr"/>
          <a:lstStyle/>
          <a:p>
            <a:pPr indent="0" marL="0">
              <a:buNone/>
            </a:pPr>
            <a:r>
              <a:rPr lang="en-US" sz="1200" b="1" dirty="0">
                <a:solidFill>
                  <a:srgbClr val="2F6B45"/>
                </a:solidFill>
                <a:latin typeface="Courier New" pitchFamily="34" charset="0"/>
                <a:ea typeface="Courier New" pitchFamily="34" charset="-122"/>
                <a:cs typeface="Courier New" pitchFamily="34" charset="-120"/>
              </a:rPr>
              <a:t>01</a:t>
            </a:r>
            <a:endParaRPr lang="en-US" sz="1200" dirty="0"/>
          </a:p>
        </p:txBody>
      </p:sp>
      <p:sp>
        <p:nvSpPr>
          <p:cNvPr id="6" name="Text 4"/>
          <p:cNvSpPr/>
          <p:nvPr/>
        </p:nvSpPr>
        <p:spPr>
          <a:xfrm>
            <a:off x="713232" y="2377440"/>
            <a:ext cx="2002536" cy="457200"/>
          </a:xfrm>
          <a:prstGeom prst="rect">
            <a:avLst/>
          </a:prstGeom>
          <a:noFill/>
          <a:ln/>
        </p:spPr>
        <p:txBody>
          <a:bodyPr wrap="square" rtlCol="0" anchor="ctr"/>
          <a:lstStyle/>
          <a:p>
            <a:pPr indent="0" marL="0">
              <a:buNone/>
            </a:pPr>
            <a:r>
              <a:rPr lang="en-US" sz="1550" b="1" dirty="0">
                <a:solidFill>
                  <a:srgbClr val="14261B"/>
                </a:solidFill>
                <a:latin typeface="Cambria" pitchFamily="34" charset="0"/>
                <a:ea typeface="Cambria" pitchFamily="34" charset="-122"/>
                <a:cs typeface="Cambria" pitchFamily="34" charset="-120"/>
              </a:rPr>
              <a:t>Data Source</a:t>
            </a:r>
            <a:endParaRPr lang="en-US" sz="1550" dirty="0"/>
          </a:p>
        </p:txBody>
      </p:sp>
      <p:sp>
        <p:nvSpPr>
          <p:cNvPr id="7" name="Text 5"/>
          <p:cNvSpPr/>
          <p:nvPr/>
        </p:nvSpPr>
        <p:spPr>
          <a:xfrm>
            <a:off x="713232" y="2926080"/>
            <a:ext cx="2002536" cy="914400"/>
          </a:xfrm>
          <a:prstGeom prst="rect">
            <a:avLst/>
          </a:prstGeom>
          <a:noFill/>
          <a:ln/>
        </p:spPr>
        <p:txBody>
          <a:bodyPr wrap="square" rtlCol="0" anchor="ctr"/>
          <a:lstStyle/>
          <a:p>
            <a:pPr indent="0" marL="0">
              <a:lnSpc>
                <a:spcPts val="1400"/>
              </a:lnSpc>
              <a:buNone/>
            </a:pPr>
            <a:r>
              <a:rPr lang="en-US" sz="1150" dirty="0">
                <a:solidFill>
                  <a:srgbClr val="4A5A4E"/>
                </a:solidFill>
                <a:latin typeface="Calibri" pitchFamily="34" charset="0"/>
                <a:ea typeface="Calibri" pitchFamily="34" charset="-122"/>
                <a:cs typeface="Calibri" pitchFamily="34" charset="-120"/>
              </a:rPr>
              <a:t>Ultrasonic sensor in bin lid</a:t>
            </a:r>
            <a:endParaRPr lang="en-US" sz="1150" dirty="0"/>
          </a:p>
        </p:txBody>
      </p:sp>
      <p:sp>
        <p:nvSpPr>
          <p:cNvPr id="8" name="Text 6"/>
          <p:cNvSpPr/>
          <p:nvPr/>
        </p:nvSpPr>
        <p:spPr>
          <a:xfrm>
            <a:off x="2907792" y="2697480"/>
            <a:ext cx="448056" cy="457200"/>
          </a:xfrm>
          <a:prstGeom prst="rect">
            <a:avLst/>
          </a:prstGeom>
          <a:noFill/>
          <a:ln/>
        </p:spPr>
        <p:txBody>
          <a:bodyPr wrap="square" rtlCol="0" anchor="ctr"/>
          <a:lstStyle/>
          <a:p>
            <a:pPr algn="ctr" indent="0" marL="0">
              <a:buNone/>
            </a:pPr>
            <a:r>
              <a:rPr lang="en-US" sz="2200" b="1" dirty="0">
                <a:solidFill>
                  <a:srgbClr val="2F6B45"/>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3383280" y="1874520"/>
            <a:ext cx="2331720" cy="2103120"/>
          </a:xfrm>
          <a:prstGeom prst="roundRect">
            <a:avLst>
              <a:gd name="adj" fmla="val 3043"/>
            </a:avLst>
          </a:prstGeom>
          <a:solidFill>
            <a:srgbClr val="FFFFFF"/>
          </a:solidFill>
          <a:ln w="15875">
            <a:solidFill>
              <a:srgbClr val="2F6B45"/>
            </a:solidFill>
            <a:prstDash val="solid"/>
          </a:ln>
        </p:spPr>
      </p:sp>
      <p:sp>
        <p:nvSpPr>
          <p:cNvPr id="10" name="Text 8"/>
          <p:cNvSpPr/>
          <p:nvPr/>
        </p:nvSpPr>
        <p:spPr>
          <a:xfrm>
            <a:off x="3547872" y="2011680"/>
            <a:ext cx="914400" cy="320040"/>
          </a:xfrm>
          <a:prstGeom prst="rect">
            <a:avLst/>
          </a:prstGeom>
          <a:noFill/>
          <a:ln/>
        </p:spPr>
        <p:txBody>
          <a:bodyPr wrap="square" rtlCol="0" anchor="ctr"/>
          <a:lstStyle/>
          <a:p>
            <a:pPr indent="0" marL="0">
              <a:buNone/>
            </a:pPr>
            <a:r>
              <a:rPr lang="en-US" sz="1200" b="1" dirty="0">
                <a:solidFill>
                  <a:srgbClr val="2F6B45"/>
                </a:solidFill>
                <a:latin typeface="Courier New" pitchFamily="34" charset="0"/>
                <a:ea typeface="Courier New" pitchFamily="34" charset="-122"/>
                <a:cs typeface="Courier New" pitchFamily="34" charset="-120"/>
              </a:rPr>
              <a:t>02</a:t>
            </a:r>
            <a:endParaRPr lang="en-US" sz="1200" dirty="0"/>
          </a:p>
        </p:txBody>
      </p:sp>
      <p:sp>
        <p:nvSpPr>
          <p:cNvPr id="11" name="Text 9"/>
          <p:cNvSpPr/>
          <p:nvPr/>
        </p:nvSpPr>
        <p:spPr>
          <a:xfrm>
            <a:off x="3547872" y="2377440"/>
            <a:ext cx="2002536" cy="457200"/>
          </a:xfrm>
          <a:prstGeom prst="rect">
            <a:avLst/>
          </a:prstGeom>
          <a:noFill/>
          <a:ln/>
        </p:spPr>
        <p:txBody>
          <a:bodyPr wrap="square" rtlCol="0" anchor="ctr"/>
          <a:lstStyle/>
          <a:p>
            <a:pPr indent="0" marL="0">
              <a:buNone/>
            </a:pPr>
            <a:r>
              <a:rPr lang="en-US" sz="1550" b="1" dirty="0">
                <a:solidFill>
                  <a:srgbClr val="14261B"/>
                </a:solidFill>
                <a:latin typeface="Cambria" pitchFamily="34" charset="0"/>
                <a:ea typeface="Cambria" pitchFamily="34" charset="-122"/>
                <a:cs typeface="Cambria" pitchFamily="34" charset="-120"/>
              </a:rPr>
              <a:t>Processing</a:t>
            </a:r>
            <a:endParaRPr lang="en-US" sz="1550" dirty="0"/>
          </a:p>
        </p:txBody>
      </p:sp>
      <p:sp>
        <p:nvSpPr>
          <p:cNvPr id="12" name="Text 10"/>
          <p:cNvSpPr/>
          <p:nvPr/>
        </p:nvSpPr>
        <p:spPr>
          <a:xfrm>
            <a:off x="3547872" y="2926080"/>
            <a:ext cx="2002536" cy="914400"/>
          </a:xfrm>
          <a:prstGeom prst="rect">
            <a:avLst/>
          </a:prstGeom>
          <a:noFill/>
          <a:ln/>
        </p:spPr>
        <p:txBody>
          <a:bodyPr wrap="square" rtlCol="0" anchor="ctr"/>
          <a:lstStyle/>
          <a:p>
            <a:pPr indent="0" marL="0">
              <a:lnSpc>
                <a:spcPts val="1400"/>
              </a:lnSpc>
              <a:buNone/>
            </a:pPr>
            <a:r>
              <a:rPr lang="en-US" sz="1150" dirty="0">
                <a:solidFill>
                  <a:srgbClr val="4A5A4E"/>
                </a:solidFill>
                <a:latin typeface="Calibri" pitchFamily="34" charset="0"/>
                <a:ea typeface="Calibri" pitchFamily="34" charset="-122"/>
                <a:cs typeface="Calibri" pitchFamily="34" charset="-120"/>
              </a:rPr>
              <a:t>Microcontroller computes % full</a:t>
            </a:r>
            <a:endParaRPr lang="en-US" sz="1150" dirty="0"/>
          </a:p>
        </p:txBody>
      </p:sp>
      <p:sp>
        <p:nvSpPr>
          <p:cNvPr id="13" name="Text 11"/>
          <p:cNvSpPr/>
          <p:nvPr/>
        </p:nvSpPr>
        <p:spPr>
          <a:xfrm>
            <a:off x="5742432" y="2697480"/>
            <a:ext cx="448056" cy="457200"/>
          </a:xfrm>
          <a:prstGeom prst="rect">
            <a:avLst/>
          </a:prstGeom>
          <a:noFill/>
          <a:ln/>
        </p:spPr>
        <p:txBody>
          <a:bodyPr wrap="square" rtlCol="0" anchor="ctr"/>
          <a:lstStyle/>
          <a:p>
            <a:pPr algn="ctr" indent="0" marL="0">
              <a:buNone/>
            </a:pPr>
            <a:r>
              <a:rPr lang="en-US" sz="2200" b="1" dirty="0">
                <a:solidFill>
                  <a:srgbClr val="2F6B45"/>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6217920" y="1874520"/>
            <a:ext cx="2331720" cy="2103120"/>
          </a:xfrm>
          <a:prstGeom prst="roundRect">
            <a:avLst>
              <a:gd name="adj" fmla="val 3043"/>
            </a:avLst>
          </a:prstGeom>
          <a:solidFill>
            <a:srgbClr val="FFFFFF"/>
          </a:solidFill>
          <a:ln w="15875">
            <a:solidFill>
              <a:srgbClr val="2F6B45"/>
            </a:solidFill>
            <a:prstDash val="solid"/>
          </a:ln>
        </p:spPr>
      </p:sp>
      <p:sp>
        <p:nvSpPr>
          <p:cNvPr id="15" name="Text 13"/>
          <p:cNvSpPr/>
          <p:nvPr/>
        </p:nvSpPr>
        <p:spPr>
          <a:xfrm>
            <a:off x="6382512" y="2011680"/>
            <a:ext cx="914400" cy="320040"/>
          </a:xfrm>
          <a:prstGeom prst="rect">
            <a:avLst/>
          </a:prstGeom>
          <a:noFill/>
          <a:ln/>
        </p:spPr>
        <p:txBody>
          <a:bodyPr wrap="square" rtlCol="0" anchor="ctr"/>
          <a:lstStyle/>
          <a:p>
            <a:pPr indent="0" marL="0">
              <a:buNone/>
            </a:pPr>
            <a:r>
              <a:rPr lang="en-US" sz="1200" b="1" dirty="0">
                <a:solidFill>
                  <a:srgbClr val="2F6B45"/>
                </a:solidFill>
                <a:latin typeface="Courier New" pitchFamily="34" charset="0"/>
                <a:ea typeface="Courier New" pitchFamily="34" charset="-122"/>
                <a:cs typeface="Courier New" pitchFamily="34" charset="-120"/>
              </a:rPr>
              <a:t>03</a:t>
            </a:r>
            <a:endParaRPr lang="en-US" sz="1200" dirty="0"/>
          </a:p>
        </p:txBody>
      </p:sp>
      <p:sp>
        <p:nvSpPr>
          <p:cNvPr id="16" name="Text 14"/>
          <p:cNvSpPr/>
          <p:nvPr/>
        </p:nvSpPr>
        <p:spPr>
          <a:xfrm>
            <a:off x="6382512" y="2377440"/>
            <a:ext cx="2002536" cy="457200"/>
          </a:xfrm>
          <a:prstGeom prst="rect">
            <a:avLst/>
          </a:prstGeom>
          <a:noFill/>
          <a:ln/>
        </p:spPr>
        <p:txBody>
          <a:bodyPr wrap="square" rtlCol="0" anchor="ctr"/>
          <a:lstStyle/>
          <a:p>
            <a:pPr indent="0" marL="0">
              <a:buNone/>
            </a:pPr>
            <a:r>
              <a:rPr lang="en-US" sz="1550" b="1" dirty="0">
                <a:solidFill>
                  <a:srgbClr val="14261B"/>
                </a:solidFill>
                <a:latin typeface="Cambria" pitchFamily="34" charset="0"/>
                <a:ea typeface="Cambria" pitchFamily="34" charset="-122"/>
                <a:cs typeface="Cambria" pitchFamily="34" charset="-120"/>
              </a:rPr>
              <a:t>Communication</a:t>
            </a:r>
            <a:endParaRPr lang="en-US" sz="1550" dirty="0"/>
          </a:p>
        </p:txBody>
      </p:sp>
      <p:sp>
        <p:nvSpPr>
          <p:cNvPr id="17" name="Text 15"/>
          <p:cNvSpPr/>
          <p:nvPr/>
        </p:nvSpPr>
        <p:spPr>
          <a:xfrm>
            <a:off x="6382512" y="2926080"/>
            <a:ext cx="2002536" cy="914400"/>
          </a:xfrm>
          <a:prstGeom prst="rect">
            <a:avLst/>
          </a:prstGeom>
          <a:noFill/>
          <a:ln/>
        </p:spPr>
        <p:txBody>
          <a:bodyPr wrap="square" rtlCol="0" anchor="ctr"/>
          <a:lstStyle/>
          <a:p>
            <a:pPr indent="0" marL="0">
              <a:lnSpc>
                <a:spcPts val="1400"/>
              </a:lnSpc>
              <a:buNone/>
            </a:pPr>
            <a:r>
              <a:rPr lang="en-US" sz="1150" dirty="0">
                <a:solidFill>
                  <a:srgbClr val="4A5A4E"/>
                </a:solidFill>
                <a:latin typeface="Calibri" pitchFamily="34" charset="0"/>
                <a:ea typeface="Calibri" pitchFamily="34" charset="-122"/>
                <a:cs typeface="Calibri" pitchFamily="34" charset="-120"/>
              </a:rPr>
              <a:t>Wi-Fi/GSM sends the alert</a:t>
            </a:r>
            <a:endParaRPr lang="en-US" sz="1150" dirty="0"/>
          </a:p>
        </p:txBody>
      </p:sp>
      <p:sp>
        <p:nvSpPr>
          <p:cNvPr id="18" name="Text 16"/>
          <p:cNvSpPr/>
          <p:nvPr/>
        </p:nvSpPr>
        <p:spPr>
          <a:xfrm>
            <a:off x="8577072" y="2697480"/>
            <a:ext cx="448056" cy="457200"/>
          </a:xfrm>
          <a:prstGeom prst="rect">
            <a:avLst/>
          </a:prstGeom>
          <a:noFill/>
          <a:ln/>
        </p:spPr>
        <p:txBody>
          <a:bodyPr wrap="square" rtlCol="0" anchor="ctr"/>
          <a:lstStyle/>
          <a:p>
            <a:pPr algn="ctr" indent="0" marL="0">
              <a:buNone/>
            </a:pPr>
            <a:r>
              <a:rPr lang="en-US" sz="2200" b="1" dirty="0">
                <a:solidFill>
                  <a:srgbClr val="2F6B45"/>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9052560" y="1874520"/>
            <a:ext cx="2331720" cy="2103120"/>
          </a:xfrm>
          <a:prstGeom prst="roundRect">
            <a:avLst>
              <a:gd name="adj" fmla="val 3043"/>
            </a:avLst>
          </a:prstGeom>
          <a:solidFill>
            <a:srgbClr val="2F6B45"/>
          </a:solidFill>
          <a:ln w="15875">
            <a:solidFill>
              <a:srgbClr val="2F6B45"/>
            </a:solidFill>
            <a:prstDash val="solid"/>
          </a:ln>
        </p:spPr>
      </p:sp>
      <p:sp>
        <p:nvSpPr>
          <p:cNvPr id="20" name="Text 18"/>
          <p:cNvSpPr/>
          <p:nvPr/>
        </p:nvSpPr>
        <p:spPr>
          <a:xfrm>
            <a:off x="9217152" y="2011680"/>
            <a:ext cx="914400" cy="320040"/>
          </a:xfrm>
          <a:prstGeom prst="rect">
            <a:avLst/>
          </a:prstGeom>
          <a:noFill/>
          <a:ln/>
        </p:spPr>
        <p:txBody>
          <a:bodyPr wrap="square" rtlCol="0" anchor="ctr"/>
          <a:lstStyle/>
          <a:p>
            <a:pPr indent="0" marL="0">
              <a:buNone/>
            </a:pPr>
            <a:r>
              <a:rPr lang="en-US" sz="1200" b="1" dirty="0">
                <a:solidFill>
                  <a:srgbClr val="C8E45C"/>
                </a:solidFill>
                <a:latin typeface="Courier New" pitchFamily="34" charset="0"/>
                <a:ea typeface="Courier New" pitchFamily="34" charset="-122"/>
                <a:cs typeface="Courier New" pitchFamily="34" charset="-120"/>
              </a:rPr>
              <a:t>04</a:t>
            </a:r>
            <a:endParaRPr lang="en-US" sz="1200" dirty="0"/>
          </a:p>
        </p:txBody>
      </p:sp>
      <p:sp>
        <p:nvSpPr>
          <p:cNvPr id="21" name="Text 19"/>
          <p:cNvSpPr/>
          <p:nvPr/>
        </p:nvSpPr>
        <p:spPr>
          <a:xfrm>
            <a:off x="9217152" y="2377440"/>
            <a:ext cx="2002536" cy="457200"/>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Interface</a:t>
            </a:r>
            <a:endParaRPr lang="en-US" sz="1550" dirty="0"/>
          </a:p>
        </p:txBody>
      </p:sp>
      <p:sp>
        <p:nvSpPr>
          <p:cNvPr id="22" name="Text 20"/>
          <p:cNvSpPr/>
          <p:nvPr/>
        </p:nvSpPr>
        <p:spPr>
          <a:xfrm>
            <a:off x="9217152" y="2926080"/>
            <a:ext cx="2002536" cy="914400"/>
          </a:xfrm>
          <a:prstGeom prst="rect">
            <a:avLst/>
          </a:prstGeom>
          <a:noFill/>
          <a:ln/>
        </p:spPr>
        <p:txBody>
          <a:bodyPr wrap="square" rtlCol="0" anchor="ctr"/>
          <a:lstStyle/>
          <a:p>
            <a:pPr indent="0" marL="0">
              <a:lnSpc>
                <a:spcPts val="1400"/>
              </a:lnSpc>
              <a:buNone/>
            </a:pPr>
            <a:r>
              <a:rPr lang="en-US" sz="1150" dirty="0">
                <a:solidFill>
                  <a:srgbClr val="E7E2D0"/>
                </a:solidFill>
                <a:latin typeface="Calibri" pitchFamily="34" charset="0"/>
                <a:ea typeface="Calibri" pitchFamily="34" charset="-122"/>
                <a:cs typeface="Calibri" pitchFamily="34" charset="-120"/>
              </a:rPr>
              <a:t>Dashboard + SMS to staff</a:t>
            </a:r>
            <a:endParaRPr lang="en-US" sz="1150" dirty="0"/>
          </a:p>
        </p:txBody>
      </p:sp>
      <p:sp>
        <p:nvSpPr>
          <p:cNvPr id="23" name="Shape 21"/>
          <p:cNvSpPr/>
          <p:nvPr/>
        </p:nvSpPr>
        <p:spPr>
          <a:xfrm>
            <a:off x="1714500" y="4480560"/>
            <a:ext cx="8503920" cy="0"/>
          </a:xfrm>
          <a:prstGeom prst="line">
            <a:avLst/>
          </a:prstGeom>
          <a:noFill/>
          <a:ln w="19050">
            <a:solidFill>
              <a:srgbClr val="5C9A6B"/>
            </a:solidFill>
            <a:prstDash val="dash"/>
            <a:tailEnd type="triangle"/>
          </a:ln>
        </p:spPr>
      </p:sp>
      <p:sp>
        <p:nvSpPr>
          <p:cNvPr id="24" name="Shape 22"/>
          <p:cNvSpPr/>
          <p:nvPr/>
        </p:nvSpPr>
        <p:spPr>
          <a:xfrm>
            <a:off x="10058400" y="4224528"/>
            <a:ext cx="822960" cy="502920"/>
          </a:xfrm>
          <a:prstGeom prst="roundRect">
            <a:avLst>
              <a:gd name="adj" fmla="val 54545"/>
            </a:avLst>
          </a:prstGeom>
          <a:solidFill>
            <a:srgbClr val="F4F1E6"/>
          </a:solidFill>
          <a:ln/>
        </p:spPr>
      </p:sp>
      <p:sp>
        <p:nvSpPr>
          <p:cNvPr id="25" name="Text 23"/>
          <p:cNvSpPr/>
          <p:nvPr/>
        </p:nvSpPr>
        <p:spPr>
          <a:xfrm>
            <a:off x="548640" y="4590288"/>
            <a:ext cx="10835640" cy="365760"/>
          </a:xfrm>
          <a:prstGeom prst="rect">
            <a:avLst/>
          </a:prstGeom>
          <a:noFill/>
          <a:ln/>
        </p:spPr>
        <p:txBody>
          <a:bodyPr wrap="square" rtlCol="0" anchor="ctr"/>
          <a:lstStyle/>
          <a:p>
            <a:pPr algn="ctr" indent="0" marL="0">
              <a:buNone/>
            </a:pPr>
            <a:r>
              <a:rPr lang="en-US" sz="1150" i="1" dirty="0">
                <a:solidFill>
                  <a:srgbClr val="2F6B45"/>
                </a:solidFill>
                <a:latin typeface="Calibri" pitchFamily="34" charset="0"/>
                <a:ea typeface="Calibri" pitchFamily="34" charset="-122"/>
                <a:cs typeface="Calibri" pitchFamily="34" charset="-120"/>
              </a:rPr>
              <a:t>Bin serviced → level resets → monitoring continues</a:t>
            </a:r>
            <a:endParaRPr lang="en-US" sz="1150" dirty="0"/>
          </a:p>
        </p:txBody>
      </p:sp>
      <p:sp>
        <p:nvSpPr>
          <p:cNvPr id="26" name="Text 24"/>
          <p:cNvSpPr/>
          <p:nvPr/>
        </p:nvSpPr>
        <p:spPr>
          <a:xfrm>
            <a:off x="548640" y="6400800"/>
            <a:ext cx="4572000" cy="274320"/>
          </a:xfrm>
          <a:prstGeom prst="rect">
            <a:avLst/>
          </a:prstGeom>
          <a:noFill/>
          <a:ln/>
        </p:spPr>
        <p:txBody>
          <a:bodyPr wrap="square" rtlCol="0" anchor="ctr"/>
          <a:lstStyle/>
          <a:p>
            <a:pPr indent="0" marL="0">
              <a:buNone/>
            </a:pPr>
            <a:r>
              <a:rPr lang="en-US" sz="950" spc="100" kern="0" dirty="0">
                <a:solidFill>
                  <a:srgbClr val="7C8C7F"/>
                </a:solidFill>
                <a:latin typeface="Courier New" pitchFamily="34" charset="0"/>
                <a:ea typeface="Courier New" pitchFamily="34" charset="-122"/>
                <a:cs typeface="Courier New" pitchFamily="34" charset="-120"/>
              </a:rPr>
              <a:t>SMART DUSTBIN — FIELD PROJECT</a:t>
            </a:r>
            <a:endParaRPr lang="en-US" sz="950" dirty="0"/>
          </a:p>
        </p:txBody>
      </p:sp>
      <p:sp>
        <p:nvSpPr>
          <p:cNvPr id="27" name="Text 25"/>
          <p:cNvSpPr/>
          <p:nvPr/>
        </p:nvSpPr>
        <p:spPr>
          <a:xfrm>
            <a:off x="10908792" y="6400800"/>
            <a:ext cx="1005840" cy="274320"/>
          </a:xfrm>
          <a:prstGeom prst="rect">
            <a:avLst/>
          </a:prstGeom>
          <a:noFill/>
          <a:ln/>
        </p:spPr>
        <p:txBody>
          <a:bodyPr wrap="square" rtlCol="0" anchor="ctr"/>
          <a:lstStyle/>
          <a:p>
            <a:pPr algn="r" indent="0" marL="0">
              <a:buNone/>
            </a:pPr>
            <a:r>
              <a:rPr lang="en-US" sz="950" dirty="0">
                <a:solidFill>
                  <a:srgbClr val="7C8C7F"/>
                </a:solidFill>
                <a:latin typeface="Courier New" pitchFamily="34" charset="0"/>
                <a:ea typeface="Courier New" pitchFamily="34" charset="-122"/>
                <a:cs typeface="Courier New" pitchFamily="34" charset="-120"/>
              </a:rPr>
              <a:t>08 / 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6"/>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algn="l" indent="0" marL="0">
              <a:buNone/>
            </a:pPr>
            <a:r>
              <a:rPr lang="en-US" sz="1100" b="1" spc="200" kern="0" dirty="0">
                <a:solidFill>
                  <a:srgbClr val="2F6B45"/>
                </a:solidFill>
                <a:latin typeface="Courier New" pitchFamily="34" charset="0"/>
                <a:ea typeface="Courier New" pitchFamily="34" charset="-122"/>
                <a:cs typeface="Courier New" pitchFamily="34" charset="-120"/>
              </a:rPr>
              <a:t>WHAT SUCCESS LOOKS LIKE</a:t>
            </a:r>
            <a:endParaRPr lang="en-US" sz="1100" dirty="0"/>
          </a:p>
        </p:txBody>
      </p:sp>
      <p:sp>
        <p:nvSpPr>
          <p:cNvPr id="3" name="Text 1"/>
          <p:cNvSpPr/>
          <p:nvPr/>
        </p:nvSpPr>
        <p:spPr>
          <a:xfrm>
            <a:off x="548640" y="658368"/>
            <a:ext cx="9144000" cy="640080"/>
          </a:xfrm>
          <a:prstGeom prst="rect">
            <a:avLst/>
          </a:prstGeom>
          <a:noFill/>
          <a:ln/>
        </p:spPr>
        <p:txBody>
          <a:bodyPr wrap="square" rtlCol="0" anchor="ctr"/>
          <a:lstStyle/>
          <a:p>
            <a:pPr indent="0" marL="0">
              <a:buNone/>
            </a:pPr>
            <a:r>
              <a:rPr lang="en-US" sz="3000" b="1" dirty="0">
                <a:solidFill>
                  <a:srgbClr val="14261B"/>
                </a:solidFill>
                <a:latin typeface="Cambria" pitchFamily="34" charset="0"/>
                <a:ea typeface="Cambria" pitchFamily="34" charset="-122"/>
                <a:cs typeface="Cambria" pitchFamily="34" charset="-120"/>
              </a:rPr>
              <a:t>Expected Outcomes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309360" cy="3429000"/>
        </p:xfrm>
        <a:graphic>
          <a:graphicData uri="http://schemas.openxmlformats.org/drawingml/2006/table">
            <a:tbl>
              <a:tblPr/>
              <a:tblGrid>
                <a:gridCol w="2286000"/>
                <a:gridCol w="2011680"/>
                <a:gridCol w="2011680"/>
              </a:tblGrid>
              <a:tr h="685800">
                <a:tc>
                  <a:txBody>
                    <a:bodyPr/>
                    <a:lstStyle/>
                    <a:p>
                      <a:pPr indent="0" marL="0">
                        <a:buNone/>
                      </a:pPr>
                      <a:endParaRPr lang="en-US" sz="1150" dirty="0"/>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12352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Before</a:t>
                      </a:r>
                      <a:endParaRPr lang="en-US" sz="125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123524"/>
                    </a:solidFill>
                  </a:tcPr>
                </a:tc>
                <a:tc>
                  <a:txBody>
                    <a:bodyPr/>
                    <a:lstStyle/>
                    <a:p>
                      <a:pPr algn="ctr" indent="0" marL="0">
                        <a:buNone/>
                      </a:pPr>
                      <a:r>
                        <a:rPr lang="en-US" sz="1250" b="1" dirty="0">
                          <a:solidFill>
                            <a:srgbClr val="C8E45C"/>
                          </a:solidFill>
                          <a:latin typeface="Calibri" pitchFamily="34" charset="0"/>
                          <a:ea typeface="Calibri" pitchFamily="34" charset="-122"/>
                          <a:cs typeface="Calibri" pitchFamily="34" charset="-120"/>
                        </a:rPr>
                        <a:t>After</a:t>
                      </a:r>
                      <a:endParaRPr lang="en-US" sz="125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123524"/>
                    </a:solidFill>
                  </a:tcPr>
                </a:tc>
              </a:tr>
              <a:tr h="685800">
                <a:tc>
                  <a:txBody>
                    <a:bodyPr/>
                    <a:lstStyle/>
                    <a:p>
                      <a:pPr algn="l" indent="0" marL="0">
                        <a:buNone/>
                      </a:pPr>
                      <a:r>
                        <a:rPr lang="en-US" sz="1200" b="1" dirty="0">
                          <a:solidFill>
                            <a:srgbClr val="14261B"/>
                          </a:solidFill>
                          <a:latin typeface="Calibri" pitchFamily="34" charset="0"/>
                          <a:ea typeface="Calibri" pitchFamily="34" charset="-122"/>
                          <a:cs typeface="Calibri" pitchFamily="34" charset="-120"/>
                        </a:rPr>
                        <a:t>Collection trigger</a:t>
                      </a:r>
                      <a:endParaRPr lang="en-US" sz="120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E7E2D0"/>
                    </a:solidFill>
                  </a:tcPr>
                </a:tc>
                <a:tc>
                  <a:txBody>
                    <a:bodyPr/>
                    <a:lstStyle/>
                    <a:p>
                      <a:pPr algn="ctr" indent="0" marL="0">
                        <a:buNone/>
                      </a:pPr>
                      <a:r>
                        <a:rPr lang="en-US" sz="1200" dirty="0">
                          <a:solidFill>
                            <a:srgbClr val="14261B"/>
                          </a:solidFill>
                          <a:latin typeface="Calibri" pitchFamily="34" charset="0"/>
                          <a:ea typeface="Calibri" pitchFamily="34" charset="-122"/>
                          <a:cs typeface="Calibri" pitchFamily="34" charset="-120"/>
                        </a:rPr>
                        <a:t>Fixed schedule</a:t>
                      </a:r>
                      <a:endParaRPr lang="en-US" sz="120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E7E2D0"/>
                    </a:solidFill>
                  </a:tcPr>
                </a:tc>
                <a:tc>
                  <a:txBody>
                    <a:bodyPr/>
                    <a:lstStyle/>
                    <a:p>
                      <a:pPr algn="ctr" indent="0" marL="0">
                        <a:buNone/>
                      </a:pPr>
                      <a:r>
                        <a:rPr lang="en-US" sz="1200" dirty="0">
                          <a:solidFill>
                            <a:srgbClr val="14261B"/>
                          </a:solidFill>
                          <a:latin typeface="Calibri" pitchFamily="34" charset="0"/>
                          <a:ea typeface="Calibri" pitchFamily="34" charset="-122"/>
                          <a:cs typeface="Calibri" pitchFamily="34" charset="-120"/>
                        </a:rPr>
                        <a:t>Real fill level (80% mark)</a:t>
                      </a:r>
                      <a:endParaRPr lang="en-US" sz="120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E7E2D0"/>
                    </a:solidFill>
                  </a:tcPr>
                </a:tc>
              </a:tr>
              <a:tr h="685800">
                <a:tc>
                  <a:txBody>
                    <a:bodyPr/>
                    <a:lstStyle/>
                    <a:p>
                      <a:pPr algn="l" indent="0" marL="0">
                        <a:buNone/>
                      </a:pPr>
                      <a:r>
                        <a:rPr lang="en-US" sz="1200" b="1" dirty="0">
                          <a:solidFill>
                            <a:srgbClr val="14261B"/>
                          </a:solidFill>
                          <a:latin typeface="Calibri" pitchFamily="34" charset="0"/>
                          <a:ea typeface="Calibri" pitchFamily="34" charset="-122"/>
                          <a:cs typeface="Calibri" pitchFamily="34" charset="-120"/>
                        </a:rPr>
                        <a:t>Overflow incidents</a:t>
                      </a:r>
                      <a:endParaRPr lang="en-US" sz="120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61B"/>
                          </a:solidFill>
                          <a:latin typeface="Calibri" pitchFamily="34" charset="0"/>
                          <a:ea typeface="Calibri" pitchFamily="34" charset="-122"/>
                          <a:cs typeface="Calibri" pitchFamily="34" charset="-120"/>
                        </a:rPr>
                        <a:t>Frequent, unpredictable</a:t>
                      </a:r>
                      <a:endParaRPr lang="en-US" sz="120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61B"/>
                          </a:solidFill>
                          <a:latin typeface="Calibri" pitchFamily="34" charset="0"/>
                          <a:ea typeface="Calibri" pitchFamily="34" charset="-122"/>
                          <a:cs typeface="Calibri" pitchFamily="34" charset="-120"/>
                        </a:rPr>
                        <a:t>Target: cut by half</a:t>
                      </a:r>
                      <a:endParaRPr lang="en-US" sz="120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FFFFFF"/>
                    </a:solidFill>
                  </a:tcPr>
                </a:tc>
              </a:tr>
              <a:tr h="685800">
                <a:tc>
                  <a:txBody>
                    <a:bodyPr/>
                    <a:lstStyle/>
                    <a:p>
                      <a:pPr algn="l" indent="0" marL="0">
                        <a:buNone/>
                      </a:pPr>
                      <a:r>
                        <a:rPr lang="en-US" sz="1200" b="1" dirty="0">
                          <a:solidFill>
                            <a:srgbClr val="14261B"/>
                          </a:solidFill>
                          <a:latin typeface="Calibri" pitchFamily="34" charset="0"/>
                          <a:ea typeface="Calibri" pitchFamily="34" charset="-122"/>
                          <a:cs typeface="Calibri" pitchFamily="34" charset="-120"/>
                        </a:rPr>
                        <a:t>Response time</a:t>
                      </a:r>
                      <a:endParaRPr lang="en-US" sz="120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E7E2D0"/>
                    </a:solidFill>
                  </a:tcPr>
                </a:tc>
                <a:tc>
                  <a:txBody>
                    <a:bodyPr/>
                    <a:lstStyle/>
                    <a:p>
                      <a:pPr algn="ctr" indent="0" marL="0">
                        <a:buNone/>
                      </a:pPr>
                      <a:r>
                        <a:rPr lang="en-US" sz="1200" dirty="0">
                          <a:solidFill>
                            <a:srgbClr val="14261B"/>
                          </a:solidFill>
                          <a:latin typeface="Calibri" pitchFamily="34" charset="0"/>
                          <a:ea typeface="Calibri" pitchFamily="34" charset="-122"/>
                          <a:cs typeface="Calibri" pitchFamily="34" charset="-120"/>
                        </a:rPr>
                        <a:t>Same day or later</a:t>
                      </a:r>
                      <a:endParaRPr lang="en-US" sz="120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E7E2D0"/>
                    </a:solidFill>
                  </a:tcPr>
                </a:tc>
                <a:tc>
                  <a:txBody>
                    <a:bodyPr/>
                    <a:lstStyle/>
                    <a:p>
                      <a:pPr algn="ctr" indent="0" marL="0">
                        <a:buNone/>
                      </a:pPr>
                      <a:r>
                        <a:rPr lang="en-US" sz="1200" dirty="0">
                          <a:solidFill>
                            <a:srgbClr val="14261B"/>
                          </a:solidFill>
                          <a:latin typeface="Calibri" pitchFamily="34" charset="0"/>
                          <a:ea typeface="Calibri" pitchFamily="34" charset="-122"/>
                          <a:cs typeface="Calibri" pitchFamily="34" charset="-120"/>
                        </a:rPr>
                        <a:t>Under 2 hours from alert</a:t>
                      </a:r>
                      <a:endParaRPr lang="en-US" sz="120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E7E2D0"/>
                    </a:solidFill>
                  </a:tcPr>
                </a:tc>
              </a:tr>
              <a:tr h="685800">
                <a:tc>
                  <a:txBody>
                    <a:bodyPr/>
                    <a:lstStyle/>
                    <a:p>
                      <a:pPr algn="l" indent="0" marL="0">
                        <a:buNone/>
                      </a:pPr>
                      <a:r>
                        <a:rPr lang="en-US" sz="1200" b="1" dirty="0">
                          <a:solidFill>
                            <a:srgbClr val="14261B"/>
                          </a:solidFill>
                          <a:latin typeface="Calibri" pitchFamily="34" charset="0"/>
                          <a:ea typeface="Calibri" pitchFamily="34" charset="-122"/>
                          <a:cs typeface="Calibri" pitchFamily="34" charset="-120"/>
                        </a:rPr>
                        <a:t>Visibility</a:t>
                      </a:r>
                      <a:endParaRPr lang="en-US" sz="120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61B"/>
                          </a:solidFill>
                          <a:latin typeface="Calibri" pitchFamily="34" charset="0"/>
                          <a:ea typeface="Calibri" pitchFamily="34" charset="-122"/>
                          <a:cs typeface="Calibri" pitchFamily="34" charset="-120"/>
                        </a:rPr>
                        <a:t>None between rounds</a:t>
                      </a:r>
                      <a:endParaRPr lang="en-US" sz="120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61B"/>
                          </a:solidFill>
                          <a:latin typeface="Calibri" pitchFamily="34" charset="0"/>
                          <a:ea typeface="Calibri" pitchFamily="34" charset="-122"/>
                          <a:cs typeface="Calibri" pitchFamily="34" charset="-120"/>
                        </a:rPr>
                        <a:t>Live, continuous fill data</a:t>
                      </a:r>
                      <a:endParaRPr lang="en-US" sz="1200" dirty="0">
                        <a:latin typeface="Calibri" charset="0"/>
                        <a:ea typeface="Calibri" charset="0"/>
                        <a:cs typeface="Calibri" charset="0"/>
                      </a:endParaRPr>
                    </a:p>
                  </a:txBody>
                  <a:tcPr marL="101600" marR="101600" marT="76200" marB="76200" anchor="ctr">
                    <a:lnL w="9525" cap="flat" cmpd="sng" algn="ctr">
                      <a:solidFill>
                        <a:srgbClr val="E7E2D0"/>
                      </a:solidFill>
                      <a:prstDash val="solid"/>
                      <a:round/>
                      <a:headEnd type="none" w="med" len="med"/>
                      <a:tailEnd type="none" w="med" len="med"/>
                    </a:lnL>
                    <a:lnR w="9525" cap="flat" cmpd="sng" algn="ctr">
                      <a:solidFill>
                        <a:srgbClr val="E7E2D0"/>
                      </a:solidFill>
                      <a:prstDash val="solid"/>
                      <a:round/>
                      <a:headEnd type="none" w="med" len="med"/>
                      <a:tailEnd type="none" w="med" len="med"/>
                    </a:lnR>
                    <a:lnT w="9525" cap="flat" cmpd="sng" algn="ctr">
                      <a:solidFill>
                        <a:srgbClr val="E7E2D0"/>
                      </a:solidFill>
                      <a:prstDash val="solid"/>
                      <a:round/>
                      <a:headEnd type="none" w="med" len="med"/>
                      <a:tailEnd type="none" w="med" len="med"/>
                    </a:lnT>
                    <a:lnB w="9525" cap="flat" cmpd="sng" algn="ctr">
                      <a:solidFill>
                        <a:srgbClr val="E7E2D0"/>
                      </a:solidFill>
                      <a:prstDash val="solid"/>
                      <a:round/>
                      <a:headEnd type="none" w="med" len="med"/>
                      <a:tailEnd type="none" w="med" len="med"/>
                    </a:lnB>
                    <a:solidFill>
                      <a:srgbClr val="FFFFFF"/>
                    </a:solidFill>
                  </a:tcPr>
                </a:tc>
              </a:tr>
            </a:tbl>
          </a:graphicData>
        </a:graphic>
      </p:graphicFrame>
      <p:sp>
        <p:nvSpPr>
          <p:cNvPr id="5" name="Shape 2"/>
          <p:cNvSpPr/>
          <p:nvPr/>
        </p:nvSpPr>
        <p:spPr>
          <a:xfrm>
            <a:off x="7086600" y="1508760"/>
            <a:ext cx="4553712" cy="1024128"/>
          </a:xfrm>
          <a:prstGeom prst="roundRect">
            <a:avLst>
              <a:gd name="adj" fmla="val 5357"/>
            </a:avLst>
          </a:prstGeom>
          <a:solidFill>
            <a:srgbClr val="123524"/>
          </a:solidFill>
          <a:ln/>
        </p:spPr>
      </p:sp>
      <p:sp>
        <p:nvSpPr>
          <p:cNvPr id="6" name="Text 3"/>
          <p:cNvSpPr/>
          <p:nvPr/>
        </p:nvSpPr>
        <p:spPr>
          <a:xfrm>
            <a:off x="7287768" y="1600200"/>
            <a:ext cx="4151376" cy="274320"/>
          </a:xfrm>
          <a:prstGeom prst="rect">
            <a:avLst/>
          </a:prstGeom>
          <a:noFill/>
          <a:ln/>
        </p:spPr>
        <p:txBody>
          <a:bodyPr wrap="square" rtlCol="0" anchor="ctr"/>
          <a:lstStyle/>
          <a:p>
            <a:pPr indent="0" marL="0">
              <a:buNone/>
            </a:pPr>
            <a:r>
              <a:rPr lang="en-US" sz="950" b="1" spc="100" kern="0" dirty="0">
                <a:solidFill>
                  <a:srgbClr val="C8E45C"/>
                </a:solidFill>
                <a:latin typeface="Courier New" pitchFamily="34" charset="0"/>
                <a:ea typeface="Courier New" pitchFamily="34" charset="-122"/>
                <a:cs typeface="Courier New" pitchFamily="34" charset="-120"/>
              </a:rPr>
              <a:t>FEASIBILITY</a:t>
            </a:r>
            <a:endParaRPr lang="en-US" sz="950" dirty="0"/>
          </a:p>
        </p:txBody>
      </p:sp>
      <p:sp>
        <p:nvSpPr>
          <p:cNvPr id="7" name="Text 4"/>
          <p:cNvSpPr/>
          <p:nvPr/>
        </p:nvSpPr>
        <p:spPr>
          <a:xfrm>
            <a:off x="7287768" y="1874520"/>
            <a:ext cx="4151376" cy="594360"/>
          </a:xfrm>
          <a:prstGeom prst="rect">
            <a:avLst/>
          </a:prstGeom>
          <a:noFill/>
          <a:ln/>
        </p:spPr>
        <p:txBody>
          <a:bodyPr wrap="square"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Low-cost parts, pilot-ready in weeks</a:t>
            </a:r>
            <a:endParaRPr lang="en-US" sz="1200" dirty="0"/>
          </a:p>
        </p:txBody>
      </p:sp>
      <p:sp>
        <p:nvSpPr>
          <p:cNvPr id="8" name="Shape 5"/>
          <p:cNvSpPr/>
          <p:nvPr/>
        </p:nvSpPr>
        <p:spPr>
          <a:xfrm>
            <a:off x="7086600" y="2670048"/>
            <a:ext cx="4553712" cy="1024128"/>
          </a:xfrm>
          <a:prstGeom prst="roundRect">
            <a:avLst>
              <a:gd name="adj" fmla="val 5357"/>
            </a:avLst>
          </a:prstGeom>
          <a:solidFill>
            <a:srgbClr val="123524"/>
          </a:solidFill>
          <a:ln/>
        </p:spPr>
      </p:sp>
      <p:sp>
        <p:nvSpPr>
          <p:cNvPr id="9" name="Text 6"/>
          <p:cNvSpPr/>
          <p:nvPr/>
        </p:nvSpPr>
        <p:spPr>
          <a:xfrm>
            <a:off x="7287768" y="2761488"/>
            <a:ext cx="4151376" cy="274320"/>
          </a:xfrm>
          <a:prstGeom prst="rect">
            <a:avLst/>
          </a:prstGeom>
          <a:noFill/>
          <a:ln/>
        </p:spPr>
        <p:txBody>
          <a:bodyPr wrap="square" rtlCol="0" anchor="ctr"/>
          <a:lstStyle/>
          <a:p>
            <a:pPr indent="0" marL="0">
              <a:buNone/>
            </a:pPr>
            <a:r>
              <a:rPr lang="en-US" sz="950" b="1" spc="100" kern="0" dirty="0">
                <a:solidFill>
                  <a:srgbClr val="C8E45C"/>
                </a:solidFill>
                <a:latin typeface="Courier New" pitchFamily="34" charset="0"/>
                <a:ea typeface="Courier New" pitchFamily="34" charset="-122"/>
                <a:cs typeface="Courier New" pitchFamily="34" charset="-120"/>
              </a:rPr>
              <a:t>COST</a:t>
            </a:r>
            <a:endParaRPr lang="en-US" sz="950" dirty="0"/>
          </a:p>
        </p:txBody>
      </p:sp>
      <p:sp>
        <p:nvSpPr>
          <p:cNvPr id="10" name="Text 7"/>
          <p:cNvSpPr/>
          <p:nvPr/>
        </p:nvSpPr>
        <p:spPr>
          <a:xfrm>
            <a:off x="7287768" y="3035808"/>
            <a:ext cx="4151376" cy="594360"/>
          </a:xfrm>
          <a:prstGeom prst="rect">
            <a:avLst/>
          </a:prstGeom>
          <a:noFill/>
          <a:ln/>
        </p:spPr>
        <p:txBody>
          <a:bodyPr wrap="square"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 ₹ estimate per unit — fill in ]</a:t>
            </a:r>
            <a:endParaRPr lang="en-US" sz="1200" dirty="0"/>
          </a:p>
        </p:txBody>
      </p:sp>
      <p:sp>
        <p:nvSpPr>
          <p:cNvPr id="11" name="Shape 8"/>
          <p:cNvSpPr/>
          <p:nvPr/>
        </p:nvSpPr>
        <p:spPr>
          <a:xfrm>
            <a:off x="7086600" y="3831336"/>
            <a:ext cx="4553712" cy="1024128"/>
          </a:xfrm>
          <a:prstGeom prst="roundRect">
            <a:avLst>
              <a:gd name="adj" fmla="val 5357"/>
            </a:avLst>
          </a:prstGeom>
          <a:solidFill>
            <a:srgbClr val="123524"/>
          </a:solidFill>
          <a:ln/>
        </p:spPr>
      </p:sp>
      <p:sp>
        <p:nvSpPr>
          <p:cNvPr id="12" name="Text 9"/>
          <p:cNvSpPr/>
          <p:nvPr/>
        </p:nvSpPr>
        <p:spPr>
          <a:xfrm>
            <a:off x="7287768" y="3922776"/>
            <a:ext cx="4151376" cy="274320"/>
          </a:xfrm>
          <a:prstGeom prst="rect">
            <a:avLst/>
          </a:prstGeom>
          <a:noFill/>
          <a:ln/>
        </p:spPr>
        <p:txBody>
          <a:bodyPr wrap="square" rtlCol="0" anchor="ctr"/>
          <a:lstStyle/>
          <a:p>
            <a:pPr indent="0" marL="0">
              <a:buNone/>
            </a:pPr>
            <a:r>
              <a:rPr lang="en-US" sz="950" b="1" spc="100" kern="0" dirty="0">
                <a:solidFill>
                  <a:srgbClr val="C8E45C"/>
                </a:solidFill>
                <a:latin typeface="Courier New" pitchFamily="34" charset="0"/>
                <a:ea typeface="Courier New" pitchFamily="34" charset="-122"/>
                <a:cs typeface="Courier New" pitchFamily="34" charset="-120"/>
              </a:rPr>
              <a:t>RISK &amp; MITIGATION</a:t>
            </a:r>
            <a:endParaRPr lang="en-US" sz="950" dirty="0"/>
          </a:p>
        </p:txBody>
      </p:sp>
      <p:sp>
        <p:nvSpPr>
          <p:cNvPr id="13" name="Text 10"/>
          <p:cNvSpPr/>
          <p:nvPr/>
        </p:nvSpPr>
        <p:spPr>
          <a:xfrm>
            <a:off x="7287768" y="4197096"/>
            <a:ext cx="4151376" cy="594360"/>
          </a:xfrm>
          <a:prstGeom prst="rect">
            <a:avLst/>
          </a:prstGeom>
          <a:noFill/>
          <a:ln/>
        </p:spPr>
        <p:txBody>
          <a:bodyPr wrap="square"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Sensor fouling → protective housing + cleaning schedule</a:t>
            </a:r>
            <a:endParaRPr lang="en-US" sz="1200" dirty="0"/>
          </a:p>
        </p:txBody>
      </p:sp>
      <p:sp>
        <p:nvSpPr>
          <p:cNvPr id="14" name="Text 11"/>
          <p:cNvSpPr/>
          <p:nvPr/>
        </p:nvSpPr>
        <p:spPr>
          <a:xfrm>
            <a:off x="548640" y="6400800"/>
            <a:ext cx="4572000" cy="274320"/>
          </a:xfrm>
          <a:prstGeom prst="rect">
            <a:avLst/>
          </a:prstGeom>
          <a:noFill/>
          <a:ln/>
        </p:spPr>
        <p:txBody>
          <a:bodyPr wrap="square" rtlCol="0" anchor="ctr"/>
          <a:lstStyle/>
          <a:p>
            <a:pPr indent="0" marL="0">
              <a:buNone/>
            </a:pPr>
            <a:r>
              <a:rPr lang="en-US" sz="950" spc="100" kern="0" dirty="0">
                <a:solidFill>
                  <a:srgbClr val="7C8C7F"/>
                </a:solidFill>
                <a:latin typeface="Courier New" pitchFamily="34" charset="0"/>
                <a:ea typeface="Courier New" pitchFamily="34" charset="-122"/>
                <a:cs typeface="Courier New" pitchFamily="34" charset="-120"/>
              </a:rPr>
              <a:t>SMART DUSTBIN — FIELD PROJECT</a:t>
            </a:r>
            <a:endParaRPr lang="en-US" sz="950" dirty="0"/>
          </a:p>
        </p:txBody>
      </p:sp>
      <p:sp>
        <p:nvSpPr>
          <p:cNvPr id="15" name="Text 12"/>
          <p:cNvSpPr/>
          <p:nvPr/>
        </p:nvSpPr>
        <p:spPr>
          <a:xfrm>
            <a:off x="10908792" y="6400800"/>
            <a:ext cx="1005840" cy="274320"/>
          </a:xfrm>
          <a:prstGeom prst="rect">
            <a:avLst/>
          </a:prstGeom>
          <a:noFill/>
          <a:ln/>
        </p:spPr>
        <p:txBody>
          <a:bodyPr wrap="square" rtlCol="0" anchor="ctr"/>
          <a:lstStyle/>
          <a:p>
            <a:pPr algn="r" indent="0" marL="0">
              <a:buNone/>
            </a:pPr>
            <a:r>
              <a:rPr lang="en-US" sz="950" dirty="0">
                <a:solidFill>
                  <a:srgbClr val="7C8C7F"/>
                </a:solidFill>
                <a:latin typeface="Courier New" pitchFamily="34" charset="0"/>
                <a:ea typeface="Courier New" pitchFamily="34" charset="-122"/>
                <a:cs typeface="Courier New" pitchFamily="34" charset="-120"/>
              </a:rPr>
              <a:t>09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3524"/>
        </a:solidFill>
      </p:bgPr>
    </p:bg>
    <p:spTree>
      <p:nvGrpSpPr>
        <p:cNvPr id="1" name=""/>
        <p:cNvGrpSpPr/>
        <p:nvPr/>
      </p:nvGrpSpPr>
      <p:grpSpPr>
        <a:xfrm>
          <a:off x="0" y="0"/>
          <a:ext cx="0" cy="0"/>
          <a:chOff x="0" y="0"/>
          <a:chExt cx="0" cy="0"/>
        </a:xfrm>
      </p:grpSpPr>
      <p:sp>
        <p:nvSpPr>
          <p:cNvPr id="2" name="Shape 0"/>
          <p:cNvSpPr/>
          <p:nvPr/>
        </p:nvSpPr>
        <p:spPr>
          <a:xfrm>
            <a:off x="10592410" y="5352898"/>
            <a:ext cx="998525" cy="998525"/>
          </a:xfrm>
          <a:prstGeom prst="ellipse">
            <a:avLst/>
          </a:prstGeom>
          <a:solidFill>
            <a:srgbClr val="FFFFFF">
              <a:alpha val="0"/>
            </a:srgbClr>
          </a:solidFill>
          <a:ln w="12700">
            <a:solidFill>
              <a:srgbClr val="C8E45C">
                <a:alpha val="45000"/>
              </a:srgbClr>
            </a:solidFill>
            <a:prstDash val="solid"/>
          </a:ln>
        </p:spPr>
      </p:sp>
      <p:sp>
        <p:nvSpPr>
          <p:cNvPr id="3" name="Shape 1"/>
          <p:cNvSpPr/>
          <p:nvPr/>
        </p:nvSpPr>
        <p:spPr>
          <a:xfrm>
            <a:off x="10806379" y="5566867"/>
            <a:ext cx="570586" cy="570586"/>
          </a:xfrm>
          <a:prstGeom prst="ellipse">
            <a:avLst/>
          </a:prstGeom>
          <a:solidFill>
            <a:srgbClr val="FFFFFF">
              <a:alpha val="0"/>
            </a:srgbClr>
          </a:solidFill>
          <a:ln w="15875">
            <a:solidFill>
              <a:srgbClr val="C8E45C">
                <a:alpha val="70000"/>
              </a:srgbClr>
            </a:solidFill>
            <a:prstDash val="solid"/>
          </a:ln>
        </p:spPr>
      </p:sp>
      <p:sp>
        <p:nvSpPr>
          <p:cNvPr id="4" name="Shape 2"/>
          <p:cNvSpPr/>
          <p:nvPr/>
        </p:nvSpPr>
        <p:spPr>
          <a:xfrm>
            <a:off x="11008462" y="5768950"/>
            <a:ext cx="166421" cy="166421"/>
          </a:xfrm>
          <a:prstGeom prst="ellipse">
            <a:avLst/>
          </a:prstGeom>
          <a:solidFill>
            <a:srgbClr val="C8E45C"/>
          </a:solidFill>
          <a:ln/>
        </p:spPr>
      </p:sp>
      <p:sp>
        <p:nvSpPr>
          <p:cNvPr id="5" name="Text 3"/>
          <p:cNvSpPr/>
          <p:nvPr/>
        </p:nvSpPr>
        <p:spPr>
          <a:xfrm>
            <a:off x="548640" y="384048"/>
            <a:ext cx="7315200" cy="274320"/>
          </a:xfrm>
          <a:prstGeom prst="rect">
            <a:avLst/>
          </a:prstGeom>
          <a:noFill/>
          <a:ln/>
        </p:spPr>
        <p:txBody>
          <a:bodyPr wrap="square" rtlCol="0" anchor="ctr"/>
          <a:lstStyle/>
          <a:p>
            <a:pPr algn="l" indent="0" marL="0">
              <a:buNone/>
            </a:pPr>
            <a:r>
              <a:rPr lang="en-US" sz="1100" b="1" spc="200" kern="0" dirty="0">
                <a:solidFill>
                  <a:srgbClr val="C8E45C"/>
                </a:solidFill>
                <a:latin typeface="Courier New" pitchFamily="34" charset="0"/>
                <a:ea typeface="Courier New" pitchFamily="34" charset="-122"/>
                <a:cs typeface="Courier New" pitchFamily="34" charset="-120"/>
              </a:rPr>
              <a:t>WRAPPING UP</a:t>
            </a:r>
            <a:endParaRPr lang="en-US" sz="1100" dirty="0"/>
          </a:p>
        </p:txBody>
      </p:sp>
      <p:sp>
        <p:nvSpPr>
          <p:cNvPr id="6" name="Text 4"/>
          <p:cNvSpPr/>
          <p:nvPr/>
        </p:nvSpPr>
        <p:spPr>
          <a:xfrm>
            <a:off x="548640" y="896112"/>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Learning</a:t>
            </a:r>
            <a:endParaRPr lang="en-US" sz="3000" dirty="0"/>
          </a:p>
        </p:txBody>
      </p:sp>
      <p:sp>
        <p:nvSpPr>
          <p:cNvPr id="7" name="Text 5"/>
          <p:cNvSpPr/>
          <p:nvPr/>
        </p:nvSpPr>
        <p:spPr>
          <a:xfrm>
            <a:off x="548640" y="1691640"/>
            <a:ext cx="6126480" cy="1280160"/>
          </a:xfrm>
          <a:prstGeom prst="rect">
            <a:avLst/>
          </a:prstGeom>
          <a:noFill/>
          <a:ln/>
        </p:spPr>
        <p:txBody>
          <a:bodyPr wrap="square" rtlCol="0" anchor="ctr"/>
          <a:lstStyle/>
          <a:p>
            <a:pPr indent="0" marL="0">
              <a:lnSpc>
                <a:spcPts val="1900"/>
              </a:lnSpc>
              <a:buNone/>
            </a:pPr>
            <a:r>
              <a:rPr lang="en-US" sz="1350" dirty="0">
                <a:solidFill>
                  <a:srgbClr val="E7E2D0"/>
                </a:solidFill>
                <a:latin typeface="Calibri" pitchFamily="34" charset="0"/>
                <a:ea typeface="Calibri" pitchFamily="34" charset="-122"/>
                <a:cs typeface="Calibri" pitchFamily="34" charset="-120"/>
              </a:rPr>
              <a:t>A fixed collection schedule can't see what a sensor can. Even a simple ultrasonic-and-alert loop closes the visibility gap this field study surfaced — and gives the site a cleaner, healthier public space with existing low-cost hardware.</a:t>
            </a:r>
            <a:endParaRPr lang="en-US" sz="1350" dirty="0"/>
          </a:p>
        </p:txBody>
      </p:sp>
      <p:sp>
        <p:nvSpPr>
          <p:cNvPr id="8" name="Text 6"/>
          <p:cNvSpPr/>
          <p:nvPr/>
        </p:nvSpPr>
        <p:spPr>
          <a:xfrm>
            <a:off x="548640" y="3108960"/>
            <a:ext cx="5486400" cy="274320"/>
          </a:xfrm>
          <a:prstGeom prst="rect">
            <a:avLst/>
          </a:prstGeom>
          <a:noFill/>
          <a:ln/>
        </p:spPr>
        <p:txBody>
          <a:bodyPr wrap="square" rtlCol="0" anchor="ctr"/>
          <a:lstStyle/>
          <a:p>
            <a:pPr indent="0" marL="0">
              <a:buNone/>
            </a:pPr>
            <a:r>
              <a:rPr lang="en-US" sz="1000" b="1" spc="100" kern="0" dirty="0">
                <a:solidFill>
                  <a:srgbClr val="C8E45C"/>
                </a:solidFill>
                <a:latin typeface="Courier New" pitchFamily="34" charset="0"/>
                <a:ea typeface="Courier New" pitchFamily="34" charset="-122"/>
                <a:cs typeface="Courier New" pitchFamily="34" charset="-120"/>
              </a:rPr>
              <a:t>LEARNING OUTCOMES</a:t>
            </a:r>
            <a:endParaRPr lang="en-US" sz="1000" dirty="0"/>
          </a:p>
        </p:txBody>
      </p:sp>
      <p:sp>
        <p:nvSpPr>
          <p:cNvPr id="9" name="Shape 7"/>
          <p:cNvSpPr/>
          <p:nvPr/>
        </p:nvSpPr>
        <p:spPr>
          <a:xfrm>
            <a:off x="548640" y="3483864"/>
            <a:ext cx="109728" cy="109728"/>
          </a:xfrm>
          <a:prstGeom prst="ellipse">
            <a:avLst/>
          </a:prstGeom>
          <a:solidFill>
            <a:srgbClr val="C8E45C"/>
          </a:solidFill>
          <a:ln/>
        </p:spPr>
      </p:sp>
      <p:sp>
        <p:nvSpPr>
          <p:cNvPr id="10" name="Text 8"/>
          <p:cNvSpPr/>
          <p:nvPr/>
        </p:nvSpPr>
        <p:spPr>
          <a:xfrm>
            <a:off x="777240" y="3337560"/>
            <a:ext cx="576072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Turned a field problem into a spec</a:t>
            </a:r>
            <a:endParaRPr lang="en-US" sz="1300" dirty="0"/>
          </a:p>
        </p:txBody>
      </p:sp>
      <p:sp>
        <p:nvSpPr>
          <p:cNvPr id="11" name="Shape 9"/>
          <p:cNvSpPr/>
          <p:nvPr/>
        </p:nvSpPr>
        <p:spPr>
          <a:xfrm>
            <a:off x="548640" y="3941064"/>
            <a:ext cx="109728" cy="109728"/>
          </a:xfrm>
          <a:prstGeom prst="ellipse">
            <a:avLst/>
          </a:prstGeom>
          <a:solidFill>
            <a:srgbClr val="C8E45C"/>
          </a:solidFill>
          <a:ln/>
        </p:spPr>
      </p:sp>
      <p:sp>
        <p:nvSpPr>
          <p:cNvPr id="12" name="Text 10"/>
          <p:cNvSpPr/>
          <p:nvPr/>
        </p:nvSpPr>
        <p:spPr>
          <a:xfrm>
            <a:off x="777240" y="3794760"/>
            <a:ext cx="576072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Sized a fix to fit the budget</a:t>
            </a:r>
            <a:endParaRPr lang="en-US" sz="1300" dirty="0"/>
          </a:p>
        </p:txBody>
      </p:sp>
      <p:sp>
        <p:nvSpPr>
          <p:cNvPr id="13" name="Shape 11"/>
          <p:cNvSpPr/>
          <p:nvPr/>
        </p:nvSpPr>
        <p:spPr>
          <a:xfrm>
            <a:off x="548640" y="4398264"/>
            <a:ext cx="109728" cy="109728"/>
          </a:xfrm>
          <a:prstGeom prst="ellipse">
            <a:avLst/>
          </a:prstGeom>
          <a:solidFill>
            <a:srgbClr val="C8E45C"/>
          </a:solidFill>
          <a:ln/>
        </p:spPr>
      </p:sp>
      <p:sp>
        <p:nvSpPr>
          <p:cNvPr id="14" name="Text 12"/>
          <p:cNvSpPr/>
          <p:nvPr/>
        </p:nvSpPr>
        <p:spPr>
          <a:xfrm>
            <a:off x="777240" y="4251960"/>
            <a:ext cx="576072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Learned to argue a design choice</a:t>
            </a:r>
            <a:endParaRPr lang="en-US" sz="1300" dirty="0"/>
          </a:p>
        </p:txBody>
      </p:sp>
      <p:sp>
        <p:nvSpPr>
          <p:cNvPr id="15" name="Text 13"/>
          <p:cNvSpPr/>
          <p:nvPr/>
        </p:nvSpPr>
        <p:spPr>
          <a:xfrm>
            <a:off x="548640" y="5029200"/>
            <a:ext cx="5486400" cy="274320"/>
          </a:xfrm>
          <a:prstGeom prst="rect">
            <a:avLst/>
          </a:prstGeom>
          <a:noFill/>
          <a:ln/>
        </p:spPr>
        <p:txBody>
          <a:bodyPr wrap="square" rtlCol="0" anchor="ctr"/>
          <a:lstStyle/>
          <a:p>
            <a:pPr indent="0" marL="0">
              <a:buNone/>
            </a:pPr>
            <a:r>
              <a:rPr lang="en-US" sz="1000" b="1" spc="100" kern="0" dirty="0">
                <a:solidFill>
                  <a:srgbClr val="C8E45C"/>
                </a:solidFill>
                <a:latin typeface="Courier New" pitchFamily="34" charset="0"/>
                <a:ea typeface="Courier New" pitchFamily="34" charset="-122"/>
                <a:cs typeface="Courier New" pitchFamily="34" charset="-120"/>
              </a:rPr>
              <a:t>TOOLS USED</a:t>
            </a:r>
            <a:endParaRPr lang="en-US" sz="1000" dirty="0"/>
          </a:p>
        </p:txBody>
      </p:sp>
      <p:sp>
        <p:nvSpPr>
          <p:cNvPr id="16" name="Text 14"/>
          <p:cNvSpPr/>
          <p:nvPr/>
        </p:nvSpPr>
        <p:spPr>
          <a:xfrm>
            <a:off x="548640" y="5321808"/>
            <a:ext cx="6126480" cy="365760"/>
          </a:xfrm>
          <a:prstGeom prst="rect">
            <a:avLst/>
          </a:prstGeom>
          <a:noFill/>
          <a:ln/>
        </p:spPr>
        <p:txBody>
          <a:bodyPr wrap="square" rtlCol="0" anchor="ctr"/>
          <a:lstStyle/>
          <a:p>
            <a:pPr indent="0" marL="0">
              <a:buNone/>
            </a:pPr>
            <a:r>
              <a:rPr lang="en-US" sz="1250" dirty="0">
                <a:solidFill>
                  <a:srgbClr val="E7E2D0"/>
                </a:solidFill>
                <a:latin typeface="Calibri" pitchFamily="34" charset="0"/>
                <a:ea typeface="Calibri" pitchFamily="34" charset="-122"/>
                <a:cs typeface="Calibri" pitchFamily="34" charset="-120"/>
              </a:rPr>
              <a:t>Arduino/ESP32  ·  Ultrasonic sensor  ·  [Design tool]  ·  [AI tool]</a:t>
            </a:r>
            <a:endParaRPr lang="en-US" sz="1250" dirty="0"/>
          </a:p>
        </p:txBody>
      </p:sp>
      <p:sp>
        <p:nvSpPr>
          <p:cNvPr id="17" name="Shape 15"/>
          <p:cNvSpPr/>
          <p:nvPr/>
        </p:nvSpPr>
        <p:spPr>
          <a:xfrm>
            <a:off x="7086600" y="1691640"/>
            <a:ext cx="4553712" cy="4023360"/>
          </a:xfrm>
          <a:prstGeom prst="roundRect">
            <a:avLst>
              <a:gd name="adj" fmla="val 1364"/>
            </a:avLst>
          </a:prstGeom>
          <a:solidFill>
            <a:srgbClr val="0C2A1A"/>
          </a:solidFill>
          <a:ln w="12700">
            <a:solidFill>
              <a:srgbClr val="2F6B45"/>
            </a:solidFill>
            <a:prstDash val="solid"/>
          </a:ln>
        </p:spPr>
      </p:sp>
      <p:sp>
        <p:nvSpPr>
          <p:cNvPr id="18" name="Text 16"/>
          <p:cNvSpPr/>
          <p:nvPr/>
        </p:nvSpPr>
        <p:spPr>
          <a:xfrm>
            <a:off x="7315200" y="1874520"/>
            <a:ext cx="4114800" cy="274320"/>
          </a:xfrm>
          <a:prstGeom prst="rect">
            <a:avLst/>
          </a:prstGeom>
          <a:noFill/>
          <a:ln/>
        </p:spPr>
        <p:txBody>
          <a:bodyPr wrap="square" rtlCol="0" anchor="ctr"/>
          <a:lstStyle/>
          <a:p>
            <a:pPr indent="0" marL="0">
              <a:buNone/>
            </a:pPr>
            <a:r>
              <a:rPr lang="en-US" sz="950" b="1" spc="100" kern="0" dirty="0">
                <a:solidFill>
                  <a:srgbClr val="C8E45C"/>
                </a:solidFill>
                <a:latin typeface="Courier New" pitchFamily="34" charset="0"/>
                <a:ea typeface="Courier New" pitchFamily="34" charset="-122"/>
                <a:cs typeface="Courier New" pitchFamily="34" charset="-120"/>
              </a:rPr>
              <a:t>AI USAGE DECLARATION</a:t>
            </a:r>
            <a:endParaRPr lang="en-US" sz="950" dirty="0"/>
          </a:p>
        </p:txBody>
      </p:sp>
      <p:sp>
        <p:nvSpPr>
          <p:cNvPr id="19" name="Text 17"/>
          <p:cNvSpPr/>
          <p:nvPr/>
        </p:nvSpPr>
        <p:spPr>
          <a:xfrm>
            <a:off x="7315200" y="2194560"/>
            <a:ext cx="4114800" cy="1188720"/>
          </a:xfrm>
          <a:prstGeom prst="rect">
            <a:avLst/>
          </a:prstGeom>
          <a:noFill/>
          <a:ln/>
        </p:spPr>
        <p:txBody>
          <a:bodyPr wrap="square" rtlCol="0" anchor="ctr"/>
          <a:lstStyle/>
          <a:p>
            <a:pPr indent="0" marL="0">
              <a:lnSpc>
                <a:spcPts val="1700"/>
              </a:lnSpc>
              <a:buNone/>
            </a:pPr>
            <a:r>
              <a:rPr lang="en-US" sz="1200" dirty="0">
                <a:solidFill>
                  <a:srgbClr val="FFFFFF"/>
                </a:solidFill>
                <a:latin typeface="Calibri" pitchFamily="34" charset="0"/>
                <a:ea typeface="Calibri" pitchFamily="34" charset="-122"/>
                <a:cs typeface="Calibri" pitchFamily="34" charset="-120"/>
              </a:rPr>
              <a:t>AI assistance was used for research support, slide drafting, and diagram layout. All content was reviewed, fact-checked, and edited by hand before submission.</a:t>
            </a:r>
            <a:endParaRPr lang="en-US" sz="1200" dirty="0"/>
          </a:p>
        </p:txBody>
      </p:sp>
      <p:sp>
        <p:nvSpPr>
          <p:cNvPr id="20" name="Shape 18"/>
          <p:cNvSpPr/>
          <p:nvPr/>
        </p:nvSpPr>
        <p:spPr>
          <a:xfrm>
            <a:off x="7315200" y="3520440"/>
            <a:ext cx="4114800" cy="0"/>
          </a:xfrm>
          <a:prstGeom prst="line">
            <a:avLst/>
          </a:prstGeom>
          <a:noFill/>
          <a:ln w="9525">
            <a:solidFill>
              <a:srgbClr val="2F6B45"/>
            </a:solidFill>
            <a:prstDash val="solid"/>
          </a:ln>
        </p:spPr>
      </p:sp>
      <p:sp>
        <p:nvSpPr>
          <p:cNvPr id="21" name="Text 19"/>
          <p:cNvSpPr/>
          <p:nvPr/>
        </p:nvSpPr>
        <p:spPr>
          <a:xfrm>
            <a:off x="7315200" y="3749040"/>
            <a:ext cx="4114800" cy="457200"/>
          </a:xfrm>
          <a:prstGeom prst="rect">
            <a:avLst/>
          </a:prstGeom>
          <a:noFill/>
          <a:ln/>
        </p:spPr>
        <p:txBody>
          <a:bodyPr wrap="square" rtlCol="0" anchor="ctr"/>
          <a:lstStyle/>
          <a:p>
            <a:pPr indent="0" marL="0">
              <a:buNone/>
            </a:pPr>
            <a:r>
              <a:rPr lang="en-US" sz="1500" i="1" dirty="0">
                <a:solidFill>
                  <a:srgbClr val="C8E45C"/>
                </a:solidFill>
                <a:latin typeface="Cambria" pitchFamily="34" charset="0"/>
                <a:ea typeface="Cambria" pitchFamily="34" charset="-122"/>
                <a:cs typeface="Cambria" pitchFamily="34" charset="-120"/>
              </a:rPr>
              <a:t>🌿 Don't be mean, keep it clean.</a:t>
            </a:r>
            <a:endParaRPr lang="en-US" sz="1500" dirty="0"/>
          </a:p>
        </p:txBody>
      </p:sp>
      <p:sp>
        <p:nvSpPr>
          <p:cNvPr id="22" name="Text 20"/>
          <p:cNvSpPr/>
          <p:nvPr/>
        </p:nvSpPr>
        <p:spPr>
          <a:xfrm>
            <a:off x="7315200" y="4206240"/>
            <a:ext cx="4114800" cy="457200"/>
          </a:xfrm>
          <a:prstGeom prst="rect">
            <a:avLst/>
          </a:prstGeom>
          <a:noFill/>
          <a:ln/>
        </p:spPr>
        <p:txBody>
          <a:bodyPr wrap="square" rtlCol="0" anchor="ctr"/>
          <a:lstStyle/>
          <a:p>
            <a:pPr indent="0" marL="0">
              <a:buNone/>
            </a:pPr>
            <a:r>
              <a:rPr lang="en-US" sz="1600" b="1" i="1" dirty="0">
                <a:solidFill>
                  <a:srgbClr val="FFFFFF"/>
                </a:solidFill>
                <a:latin typeface="Cambria" pitchFamily="34" charset="0"/>
                <a:ea typeface="Cambria" pitchFamily="34" charset="-122"/>
                <a:cs typeface="Cambria" pitchFamily="34" charset="-120"/>
              </a:rPr>
              <a:t>🚮 Be smart, use smart dustbins.</a:t>
            </a:r>
            <a:endParaRPr lang="en-US" sz="1600" dirty="0"/>
          </a:p>
        </p:txBody>
      </p:sp>
      <p:sp>
        <p:nvSpPr>
          <p:cNvPr id="23" name="Text 21"/>
          <p:cNvSpPr/>
          <p:nvPr/>
        </p:nvSpPr>
        <p:spPr>
          <a:xfrm>
            <a:off x="10908792" y="6400800"/>
            <a:ext cx="1005840" cy="274320"/>
          </a:xfrm>
          <a:prstGeom prst="rect">
            <a:avLst/>
          </a:prstGeom>
          <a:noFill/>
          <a:ln/>
        </p:spPr>
        <p:txBody>
          <a:bodyPr wrap="square" rtlCol="0" anchor="ctr"/>
          <a:lstStyle/>
          <a:p>
            <a:pPr algn="r" indent="0" marL="0">
              <a:buNone/>
            </a:pPr>
            <a:r>
              <a:rPr lang="en-US" sz="950" dirty="0">
                <a:solidFill>
                  <a:srgbClr val="8FAF9A"/>
                </a:solidFill>
                <a:latin typeface="Courier New" pitchFamily="34" charset="0"/>
                <a:ea typeface="Courier New" pitchFamily="34" charset="-122"/>
                <a:cs typeface="Courier New" pitchFamily="34" charset="-120"/>
              </a:rPr>
              <a:t>10 / 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2026-08-09T06:12:32Z</dcterms:created>
  <dcterms:modified xsi:type="dcterms:W3CDTF">2026-08-09T06:12:32Z</dcterms:modified>
</cp:coreProperties>
</file>